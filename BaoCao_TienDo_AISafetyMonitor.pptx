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13afce1e92154ce2" Type="http://schemas.openxmlformats.org/officeDocument/2006/relationships/officeDocument" Target="ppt/presentation.xml"/><Relationship Id="R2fa575ec307744b9" Type="http://schemas.openxmlformats.org/package/2006/relationships/metadata/core-properties" Target="docProps/core.xml"/><Relationship Id="R8de2184ceb3c4588" Type="http://schemas.openxmlformats.org/officeDocument/2006/relationships/extended-properties" Target="docProps/app.xml"/><Relationship Id="Rbf475dc5dd7d4774" Type="http://schemas.openxmlformats.org/officeDocument/2006/relationships/custom-properties" Target="docProps/custom.xml"/></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sldIdLst>
    <p:sldId id="256" r:id="Rc62f27bcc0ec479e"/>
    <p:sldId id="257" r:id="R099199044de6467f"/>
    <p:sldId id="258" r:id="R3f7fc5631e974dcf"/>
    <p:sldId id="259" r:id="R12a98ad9afcb4d61"/>
    <p:sldId id="260" r:id="Re6d92129eba1455f"/>
    <p:sldId id="261" r:id="R8e47b369a6694cd5"/>
    <p:sldId id="262" r:id="R504ec72f9a574692"/>
    <p:sldId id="263" r:id="Rf62506c75a6b44df"/>
    <p:sldId id="264" r:id="R64084c9e39284fa2"/>
    <p:sldId id="265" r:id="R8e78ece91333405e"/>
  </p:sldIdLst>
  <p:sldSz cx="12192000" cy="6858000"/>
  <p:notesSz cx="6858000" cy="9144000"/>
</p:presentation>
</file>

<file path=ppt/_rels/presentation.xml.rels><?xml version='1.0' encoding='UTF-8' standalone='yes'?>
<Relationships xmlns="http://schemas.openxmlformats.org/package/2006/relationships"><Relationship Id="R099199044de6467f" Type="http://schemas.openxmlformats.org/officeDocument/2006/relationships/slide" Target="slides/slide2.xml"/><Relationship Id="R12a98ad9afcb4d61" Type="http://schemas.openxmlformats.org/officeDocument/2006/relationships/slide" Target="slides/slide4.xml"/><Relationship Id="R3f7fc5631e974dcf" Type="http://schemas.openxmlformats.org/officeDocument/2006/relationships/slide" Target="slides/slide3.xml"/><Relationship Id="R504ec72f9a574692" Type="http://schemas.openxmlformats.org/officeDocument/2006/relationships/slide" Target="slides/slide7.xml"/><Relationship Id="R64084c9e39284fa2" Type="http://schemas.openxmlformats.org/officeDocument/2006/relationships/slide" Target="slides/slide9.xml"/><Relationship Id="R8e47b369a6694cd5" Type="http://schemas.openxmlformats.org/officeDocument/2006/relationships/slide" Target="slides/slide6.xml"/><Relationship Id="R8e78ece91333405e" Type="http://schemas.openxmlformats.org/officeDocument/2006/relationships/slide" Target="slides/slide10.xml"/><Relationship Id="Rc62f27bcc0ec479e" Type="http://schemas.openxmlformats.org/officeDocument/2006/relationships/slide" Target="slides/slide1.xml"/><Relationship Id="Re6d92129eba1455f" Type="http://schemas.openxmlformats.org/officeDocument/2006/relationships/slide" Target="slides/slide5.xml"/><Relationship Id="Rf62506c75a6b44df" Type="http://schemas.openxmlformats.org/officeDocument/2006/relationships/slide" Target="slides/slide8.xml"/><Relationship Id="rId1" Type="http://schemas.openxmlformats.org/officeDocument/2006/relationships/slideMaster" Target="slideMasters/slideMaster1.xml"/><Relationship Id="rId2" Type="http://schemas.openxmlformats.org/officeDocument/2006/relationships/theme" Target="theme/theme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Kính chào Thầy/Cô và Hội đồng. Hôm nay nhóm xin phép trình bày báo cáo tiến độ thực hiện đề tài 'Hệ thống giám sát an toàn lao động bằng trí tuệ nhân tạo thời gian thực' (AI Safety Monitor), tập trung vào 3 trọng tâm: vạch ra chức năng, thiết kế CSDL và xây dựng giao diện.</a:t>
            </a:r>
          </a:p>
        </p:txBody>
      </p:sp>
    </p:spTree>
  </p:cSld>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Về lý do chọn đề tài: Giám sát thủ công bộc lộ nhiều điểm yếu về độ phủ và thời gian phản ứng. Hệ thống AI Safety Monitor ra đời nhằm giải quyết triệt để vấn đề này bằng thị giác máy tính thời gian thực.</a:t>
            </a:r>
          </a:p>
        </p:txBody>
      </p:sp>
    </p:spTree>
  </p:cSld>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Trong giai đoạn hiện tại, nhóm tập trung giải quyết trọn vẹn 3 mục tiêu cốt lõi: phân tích chức năng toàn hệ thống, mô hình hóa CSDL quan hệ và thiết kế giao diện dashboard thời gian thực.</a:t>
            </a:r>
          </a:p>
        </p:txBody>
      </p:sp>
    </p:spTree>
  </p:cSld>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Phân cấp chức năng rõ ràng giữa 3 vai trò: Quản trị viên quản lý cấu hình và nguồn video; Cán bộ an toàn giám sát hiện trường và xử lý vi phạm; Engine AI đảm bảo tự động hóa toàn bộ khâu phân tích và cảnh báo.</a:t>
            </a:r>
          </a:p>
        </p:txBody>
      </p:sp>
    </p:spTree>
  </p:cSld>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Bốn phân hệ chức năng trên tạo nên chu trình khép kín từ khâu thu nhận hình ảnh, nhận diện, cảnh báo cho đến tổng hợp báo cáo phục vụ quản lý.</a:t>
            </a:r>
          </a:p>
        </p:txBody>
      </p:sp>
    </p:spTree>
  </p:cSld>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Kiến trúc CSDL lai giúp giải quyết đồng thời bài toán tốc độ cao (không nghẽn I/O khi lưu hình ảnh) và bảo toàn dữ liệu lâu dài để phục vụ phân tích, xuất báo cáo.</a:t>
            </a:r>
          </a:p>
        </p:txBody>
      </p:sp>
    </p:spTree>
  </p:cSld>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Sơ đồ ERD mô tả cấu trúc 3 bảng dữ liệu chính. Bảng violations đóng vai trò trung tâm ghi nhận mọi sự kiện vi phạm thực địa với đầy đủ định danh và snapshot URL.</a:t>
            </a:r>
          </a:p>
        </p:txBody>
      </p:sp>
    </p:spTree>
  </p:cSld>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Giao diện người dùng được xây dựng dựa trên 4 trụ cột cốt lõi: Giao diện tối hiện đại, phản hồi thời gian thực, thao tác một chạm và cảnh báo đa giác quan kết hợp hình ảnh, âm thanh và Telegram.</a:t>
            </a:r>
          </a:p>
        </p:txBody>
      </p:sp>
    </p:spTree>
  </p:cSld>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Đây là hình ảnh thực tế của giao diện Dashboard hệ thống đang vận hành, hiển thị đầy đủ màn hình giám sát camera, bảng trạng thái trang bị và bảng nhật ký vi phạm.</a:t>
            </a:r>
          </a:p>
        </p:txBody>
      </p:sp>
    </p:spTree>
  </p:cSld>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Tổng kết lại, nhóm đã hoàn thành toàn bộ mục tiêu đề ra cho giai đoạn báo cáo tiến độ. Trong giai đoạn tiếp theo, nhóm sẽ tập trung vào mở rộng kết nối đa camera, tinh chỉnh độ chính xác và triển khai thực địa.</a:t>
            </a:r>
          </a:p>
        </p:txBody>
      </p:sp>
    </p:spTree>
  </p:cSld>
</p:notes>
</file>

<file path=ppt/slideLayouts/_rels/slideLayout1.xml.rels><?xml version='1.0' encoding='UTF-8' standalone='yes'?>
<Relationships xmlns="http://schemas.openxmlformats.org/package/2006/relationships"><Relationship Id="R7a8ecb48d6e2471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3d716a11167438a"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973b6dfda368482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998ea19e71ff428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b6146662c62945b4" Type="http://schemas.openxmlformats.org/officeDocument/2006/relationships/slideMaster" Target="../slideMasters/slideMaster1.xml"/></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xml version='1.0' encoding='UTF-8' standalone='yes'?>
<Relationships xmlns="http://schemas.openxmlformats.org/package/2006/relationships"><Relationship Id="Rc4831eba8449497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xml version='1.0' encoding='UTF-8' standalone='yes'?>
<Relationships xmlns="http://schemas.openxmlformats.org/package/2006/relationships"><Relationship Id="R1d4ef0c4e66e45b2" Type="http://schemas.openxmlformats.org/officeDocument/2006/relationships/notesSlide" Target="../notesSlides/notesSlide1.xml"/><Relationship Id="Rece3ec547d444de6"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4448efe9117242b9" Type="http://schemas.openxmlformats.org/officeDocument/2006/relationships/notesSlide" Target="../notesSlides/notesSlide2.xml"/><Relationship Id="R87432632480e46b6"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105377bf4152452f" Type="http://schemas.openxmlformats.org/officeDocument/2006/relationships/notesSlide" Target="../notesSlides/notesSlide3.xml"/><Relationship Id="R37bad7823edb41a8"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16e0e7629a004e37" Type="http://schemas.openxmlformats.org/officeDocument/2006/relationships/notesSlide" Target="../notesSlides/notesSlide4.xml"/><Relationship Id="Rf5d251c9a90d4fe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62338ad5fc344a9b" Type="http://schemas.openxmlformats.org/officeDocument/2006/relationships/slideLayout" Target="../slideLayouts/slideLayout1.xml"/><Relationship Id="R7d7b6829ad2d4f0e"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0b808aee6f2b45e0" Type="http://schemas.openxmlformats.org/officeDocument/2006/relationships/slideLayout" Target="../slideLayouts/slideLayout1.xml"/><Relationship Id="Rc324b397af3346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238b7ddf053140dc" Type="http://schemas.openxmlformats.org/officeDocument/2006/relationships/notesSlide" Target="../notesSlides/notesSlide7.xml"/><Relationship Id="R6bd10a089dcf41e9" Type="http://schemas.openxmlformats.org/officeDocument/2006/relationships/slideLayout" Target="../slideLayouts/slideLayout1.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0cfecc980f6941eb" Type="http://schemas.openxmlformats.org/officeDocument/2006/relationships/notesSlide" Target="../notesSlides/notesSlide8.xml"/><Relationship Id="R5b7630fb82064148"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043a535858344f90" Type="http://schemas.openxmlformats.org/officeDocument/2006/relationships/notesSlide" Target="../notesSlides/notesSlide9.xml"/><Relationship Id="R13c2b542222b4d2e" Type="http://schemas.openxmlformats.org/officeDocument/2006/relationships/image" Target="../media/image.png"/><Relationship Id="Rfd44089057d24b0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81a2545bdfe843ec" Type="http://schemas.openxmlformats.org/officeDocument/2006/relationships/notesSlide" Target="../notesSlides/notesSlide10.xml"/><Relationship Id="R87c5752dd92145dc"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p:sp>
        <p:nvSpPr>
          <p:cNvPr id="100000" name="TextBox 1"/>
          <p:cNvSpPr/>
          <p:nvPr/>
        </p:nvSpPr>
        <p:spPr>
          <a:xfrm xmlns:a="http://schemas.openxmlformats.org/drawingml/2006/main">
            <a:off x="720000" y="648000"/>
            <a:ext cx="3168000" cy="324000"/>
          </a:xfrm>
          <a:prstGeom xmlns:a="http://schemas.openxmlformats.org/drawingml/2006/main" prst="roundRect">
            <a:avLst/>
          </a:prstGeom>
          <a:solidFill xmlns:a="http://schemas.openxmlformats.org/drawingml/2006/main">
            <a:srgbClr val="0284C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300" b="1">
                <a:solidFill>
                  <a:srgbClr val="FFFFFF"/>
                </a:solidFill>
                <a:latin typeface="Calibri"/>
                <a:ea typeface="Calibri"/>
              </a:rPr>
              <a:t>BÁO CÁO TIẾN ĐỘ ĐỒ ÁN</a:t>
            </a:r>
          </a:p>
        </p:txBody>
      </p:sp>
      <p:sp>
        <p:nvSpPr>
          <p:cNvPr id="100001" name="TextBox 2"/>
          <p:cNvSpPr txBox="1"/>
          <p:nvPr/>
        </p:nvSpPr>
        <p:spPr>
          <a:xfrm xmlns:a="http://schemas.openxmlformats.org/drawingml/2006/main">
            <a:off x="720000" y="1080000"/>
            <a:ext cx="10753200" cy="13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3600" b="1">
                <a:solidFill>
                  <a:srgbClr val="FFFFFF"/>
                </a:solidFill>
                <a:latin typeface="Trebuchet MS"/>
                <a:ea typeface="Trebuchet MS"/>
              </a:rPr>
              <a:t>HỆ THỐNG GIÁM SÁT AN TOÀN LAO ĐỘNG</a:t>
            </a:r>
          </a:p>
          <a:p xmlns:a="http://schemas.openxmlformats.org/drawingml/2006/main">
            <a:pPr algn="l"/>
            <a:r>
              <a:rPr lang="en-US" sz="3600" b="1">
                <a:solidFill>
                  <a:srgbClr val="FFFFFF"/>
                </a:solidFill>
                <a:latin typeface="Trebuchet MS"/>
                <a:ea typeface="Trebuchet MS"/>
              </a:rPr>
              <a:t>BẰNG TRÍ TUỆ NHÂN TẠO THỜI GIAN THỰC</a:t>
            </a:r>
          </a:p>
        </p:txBody>
      </p:sp>
      <p:sp>
        <p:nvSpPr>
          <p:cNvPr id="100002" name="TextBox 3"/>
          <p:cNvSpPr txBox="1"/>
          <p:nvPr/>
        </p:nvSpPr>
        <p:spPr>
          <a:xfrm xmlns:a="http://schemas.openxmlformats.org/drawingml/2006/main">
            <a:off x="720000" y="2592000"/>
            <a:ext cx="107532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800" b="0">
                <a:solidFill>
                  <a:srgbClr val="38BDF8"/>
                </a:solidFill>
                <a:latin typeface="Calibri"/>
                <a:ea typeface="Calibri"/>
              </a:rPr>
              <a:t>Nghiên cứu ứng dụng YOLO11, ByteTrack và FastAPI kết hợp Dashboard điều khiển React</a:t>
            </a:r>
          </a:p>
        </p:txBody>
      </p:sp>
      <p:sp>
        <p:nvSpPr>
          <p:cNvPr id="100003" name="TextBox 4"/>
          <p:cNvSpPr/>
          <p:nvPr/>
        </p:nvSpPr>
        <p:spPr>
          <a:xfrm xmlns:a="http://schemas.openxmlformats.org/drawingml/2006/main">
            <a:off x="720000" y="3384000"/>
            <a:ext cx="10753200" cy="21600"/>
          </a:xfrm>
          <a:prstGeom xmlns:a="http://schemas.openxmlformats.org/drawingml/2006/main" prst="rect">
            <a:avLst/>
          </a:prstGeom>
          <a:solidFill xmlns:a="http://schemas.openxmlformats.org/drawingml/2006/main">
            <a:srgbClr val="334155"/>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04" name="TextBox 5"/>
          <p:cNvSpPr/>
          <p:nvPr/>
        </p:nvSpPr>
        <p:spPr>
          <a:xfrm xmlns:a="http://schemas.openxmlformats.org/drawingml/2006/main">
            <a:off x="720000" y="3600000"/>
            <a:ext cx="3348000" cy="2448000"/>
          </a:xfrm>
          <a:prstGeom xmlns:a="http://schemas.openxmlformats.org/drawingml/2006/main" prst="roundRect">
            <a:avLst/>
          </a:prstGeom>
          <a:solidFill xmlns:a="http://schemas.openxmlformats.org/drawingml/2006/main">
            <a:srgbClr val="1E293B"/>
          </a:solidFill>
          <a:ln xmlns:a="http://schemas.openxmlformats.org/drawingml/2006/main" w="12700">
            <a:solidFill>
              <a:srgbClr val="334155"/>
            </a:solidFill>
          </a:ln>
        </p:spPr>
        <p:txBody>
          <a:bodyPr xmlns:a="http://schemas.openxmlformats.org/drawingml/2006/main"/>
          <a:lstStyle xmlns:a="http://schemas.openxmlformats.org/drawingml/2006/main"/>
          <a:p xmlns:a="http://schemas.openxmlformats.org/drawingml/2006/main"/>
        </p:txBody>
      </p:sp>
      <p:sp>
        <p:nvSpPr>
          <p:cNvPr id="100005" name="TextBox 6"/>
          <p:cNvSpPr txBox="1"/>
          <p:nvPr/>
        </p:nvSpPr>
        <p:spPr>
          <a:xfrm xmlns:a="http://schemas.openxmlformats.org/drawingml/2006/main">
            <a:off x="828000" y="3744000"/>
            <a:ext cx="3132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400" b="1">
                <a:solidFill>
                  <a:srgbClr val="38BDF8"/>
                </a:solidFill>
                <a:latin typeface="Calibri"/>
                <a:ea typeface="Calibri"/>
              </a:rPr>
              <a:t>SINH VIÊN THỰC HIỆN</a:t>
            </a:r>
          </a:p>
        </p:txBody>
      </p:sp>
      <p:sp>
        <p:nvSpPr>
          <p:cNvPr id="100006" name="TextBox 7"/>
          <p:cNvSpPr txBox="1"/>
          <p:nvPr/>
        </p:nvSpPr>
        <p:spPr>
          <a:xfrm xmlns:a="http://schemas.openxmlformats.org/drawingml/2006/main">
            <a:off x="828000" y="4176000"/>
            <a:ext cx="3132000" cy="17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FFFFFF"/>
                </a:solidFill>
                <a:latin typeface="Calibri"/>
                <a:ea typeface="Calibri"/>
              </a:rPr>
              <a:t>Nhóm Nghiên cứu &amp; Phát triển</a:t>
            </a:r>
          </a:p>
          <a:p xmlns:a="http://schemas.openxmlformats.org/drawingml/2006/main">
            <a:pPr algn="l"/>
            <a:r>
              <a:rPr lang="en-US" sz="1600" b="0">
                <a:solidFill>
                  <a:srgbClr val="FFFFFF"/>
                </a:solidFill>
                <a:latin typeface="Calibri"/>
                <a:ea typeface="Calibri"/>
              </a:rPr>
              <a:t>Chuyên ngành: Khoa học Máy tính / CNTT</a:t>
            </a:r>
          </a:p>
        </p:txBody>
      </p:sp>
      <p:sp>
        <p:nvSpPr>
          <p:cNvPr id="100007" name="TextBox 8"/>
          <p:cNvSpPr/>
          <p:nvPr/>
        </p:nvSpPr>
        <p:spPr>
          <a:xfrm xmlns:a="http://schemas.openxmlformats.org/drawingml/2006/main">
            <a:off x="4428000" y="3600000"/>
            <a:ext cx="3348000" cy="2448000"/>
          </a:xfrm>
          <a:prstGeom xmlns:a="http://schemas.openxmlformats.org/drawingml/2006/main" prst="roundRect">
            <a:avLst/>
          </a:prstGeom>
          <a:solidFill xmlns:a="http://schemas.openxmlformats.org/drawingml/2006/main">
            <a:srgbClr val="1E293B"/>
          </a:solidFill>
          <a:ln xmlns:a="http://schemas.openxmlformats.org/drawingml/2006/main" w="12700">
            <a:solidFill>
              <a:srgbClr val="334155"/>
            </a:solidFill>
          </a:ln>
        </p:spPr>
        <p:txBody>
          <a:bodyPr xmlns:a="http://schemas.openxmlformats.org/drawingml/2006/main"/>
          <a:lstStyle xmlns:a="http://schemas.openxmlformats.org/drawingml/2006/main"/>
          <a:p xmlns:a="http://schemas.openxmlformats.org/drawingml/2006/main"/>
        </p:txBody>
      </p:sp>
      <p:sp>
        <p:nvSpPr>
          <p:cNvPr id="100008" name="TextBox 9"/>
          <p:cNvSpPr txBox="1"/>
          <p:nvPr/>
        </p:nvSpPr>
        <p:spPr>
          <a:xfrm xmlns:a="http://schemas.openxmlformats.org/drawingml/2006/main">
            <a:off x="4536000" y="3744000"/>
            <a:ext cx="3132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400" b="1">
                <a:solidFill>
                  <a:srgbClr val="38BDF8"/>
                </a:solidFill>
                <a:latin typeface="Calibri"/>
                <a:ea typeface="Calibri"/>
              </a:rPr>
              <a:t>GIẢNG VIÊN HƯỚNG DẪN</a:t>
            </a:r>
          </a:p>
        </p:txBody>
      </p:sp>
      <p:sp>
        <p:nvSpPr>
          <p:cNvPr id="100009" name="TextBox 10"/>
          <p:cNvSpPr txBox="1"/>
          <p:nvPr/>
        </p:nvSpPr>
        <p:spPr>
          <a:xfrm xmlns:a="http://schemas.openxmlformats.org/drawingml/2006/main">
            <a:off x="4536000" y="4176000"/>
            <a:ext cx="3132000" cy="17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FFFFFF"/>
                </a:solidFill>
                <a:latin typeface="Calibri"/>
                <a:ea typeface="Calibri"/>
              </a:rPr>
              <a:t>TS. / ThS. Giảng viên Hướng dẫn</a:t>
            </a:r>
          </a:p>
          <a:p xmlns:a="http://schemas.openxmlformats.org/drawingml/2006/main">
            <a:pPr algn="l"/>
            <a:r>
              <a:rPr lang="en-US" sz="1600" b="0">
                <a:solidFill>
                  <a:srgbClr val="FFFFFF"/>
                </a:solidFill>
                <a:latin typeface="Calibri"/>
                <a:ea typeface="Calibri"/>
              </a:rPr>
              <a:t>Khoa Công nghệ Thông tin</a:t>
            </a:r>
          </a:p>
        </p:txBody>
      </p:sp>
      <p:sp>
        <p:nvSpPr>
          <p:cNvPr id="100010" name="TextBox 11"/>
          <p:cNvSpPr/>
          <p:nvPr/>
        </p:nvSpPr>
        <p:spPr>
          <a:xfrm xmlns:a="http://schemas.openxmlformats.org/drawingml/2006/main">
            <a:off x="8136000" y="3600000"/>
            <a:ext cx="3348000" cy="2448000"/>
          </a:xfrm>
          <a:prstGeom xmlns:a="http://schemas.openxmlformats.org/drawingml/2006/main" prst="roundRect">
            <a:avLst/>
          </a:prstGeom>
          <a:solidFill xmlns:a="http://schemas.openxmlformats.org/drawingml/2006/main">
            <a:srgbClr val="1E293B"/>
          </a:solidFill>
          <a:ln xmlns:a="http://schemas.openxmlformats.org/drawingml/2006/main" w="12700">
            <a:solidFill>
              <a:srgbClr val="334155"/>
            </a:solidFill>
          </a:ln>
        </p:spPr>
        <p:txBody>
          <a:bodyPr xmlns:a="http://schemas.openxmlformats.org/drawingml/2006/main"/>
          <a:lstStyle xmlns:a="http://schemas.openxmlformats.org/drawingml/2006/main"/>
          <a:p xmlns:a="http://schemas.openxmlformats.org/drawingml/2006/main"/>
        </p:txBody>
      </p:sp>
      <p:sp>
        <p:nvSpPr>
          <p:cNvPr id="100011" name="TextBox 12"/>
          <p:cNvSpPr txBox="1"/>
          <p:nvPr/>
        </p:nvSpPr>
        <p:spPr>
          <a:xfrm xmlns:a="http://schemas.openxmlformats.org/drawingml/2006/main">
            <a:off x="8244000" y="3744000"/>
            <a:ext cx="3132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400" b="1">
                <a:solidFill>
                  <a:srgbClr val="38BDF8"/>
                </a:solidFill>
                <a:latin typeface="Calibri"/>
                <a:ea typeface="Calibri"/>
              </a:rPr>
              <a:t>THỜI GIAN &amp; ĐỊA ĐIỂM</a:t>
            </a:r>
          </a:p>
        </p:txBody>
      </p:sp>
      <p:sp>
        <p:nvSpPr>
          <p:cNvPr id="100012" name="TextBox 13"/>
          <p:cNvSpPr txBox="1"/>
          <p:nvPr/>
        </p:nvSpPr>
        <p:spPr>
          <a:xfrm xmlns:a="http://schemas.openxmlformats.org/drawingml/2006/main">
            <a:off x="8244000" y="4176000"/>
            <a:ext cx="3132000" cy="17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FFFFFF"/>
                </a:solidFill>
                <a:latin typeface="Calibri"/>
                <a:ea typeface="Calibri"/>
              </a:rPr>
              <a:t>Thời gian báo cáo: Tháng 08/2026</a:t>
            </a:r>
          </a:p>
          <a:p xmlns:a="http://schemas.openxmlformats.org/drawingml/2006/main">
            <a:pPr algn="l"/>
            <a:r>
              <a:rPr lang="en-US" sz="1600" b="0">
                <a:solidFill>
                  <a:srgbClr val="FFFFFF"/>
                </a:solidFill>
                <a:latin typeface="Calibri"/>
                <a:ea typeface="Calibri"/>
              </a:rPr>
              <a:t>Đơn vị: Trường Đại học Bách Khoa</a:t>
            </a:r>
          </a:p>
        </p:txBody>
      </p:sp>
    </p:spTree>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13" name="TextBox 1"/>
          <p:cNvSpPr txBox="1"/>
          <p:nvPr/>
        </p:nvSpPr>
        <p:spPr>
          <a:xfrm xmlns:a="http://schemas.openxmlformats.org/drawingml/2006/main">
            <a:off x="540000" y="324000"/>
            <a:ext cx="111132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3200" b="1">
                <a:solidFill>
                  <a:srgbClr val="0F172A"/>
                </a:solidFill>
                <a:latin typeface="Trebuchet MS"/>
                <a:ea typeface="Trebuchet MS"/>
              </a:rPr>
              <a:t>1. Giới thiệu Đề tài &amp; Bối cảnh Nghiên cứu</a:t>
            </a:r>
          </a:p>
        </p:txBody>
      </p:sp>
      <p:sp>
        <p:nvSpPr>
          <p:cNvPr id="100014" name="TextBox 2"/>
          <p:cNvSpPr txBox="1"/>
          <p:nvPr/>
        </p:nvSpPr>
        <p:spPr>
          <a:xfrm xmlns:a="http://schemas.openxmlformats.org/drawingml/2006/main">
            <a:off x="540000" y="900000"/>
            <a:ext cx="111132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64748B"/>
                </a:solidFill>
                <a:latin typeface="Calibri"/>
                <a:ea typeface="Calibri"/>
              </a:rPr>
              <a:t>Vấn đề an toàn lao động tại công trường và sự cần thiết của giải pháp AI tự động hóa</a:t>
            </a:r>
          </a:p>
        </p:txBody>
      </p:sp>
      <p:sp>
        <p:nvSpPr>
          <p:cNvPr id="100015" name="TextBox 3"/>
          <p:cNvSpPr/>
          <p:nvPr/>
        </p:nvSpPr>
        <p:spPr>
          <a:xfrm xmlns:a="http://schemas.openxmlformats.org/drawingml/2006/main">
            <a:off x="540000" y="1296000"/>
            <a:ext cx="3456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16" name="TextBox 4"/>
          <p:cNvSpPr/>
          <p:nvPr/>
        </p:nvSpPr>
        <p:spPr>
          <a:xfrm xmlns:a="http://schemas.openxmlformats.org/drawingml/2006/main">
            <a:off x="612000" y="1440000"/>
            <a:ext cx="3312000" cy="432000"/>
          </a:xfrm>
          <a:prstGeom xmlns:a="http://schemas.openxmlformats.org/drawingml/2006/main" prst="roundRect">
            <a:avLst/>
          </a:prstGeom>
          <a:solidFill xmlns:a="http://schemas.openxmlformats.org/drawingml/2006/main">
            <a:srgbClr val="0F172A"/>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FFFFFF"/>
                </a:solidFill>
                <a:latin typeface="Calibri"/>
                <a:ea typeface="Calibri"/>
              </a:rPr>
              <a:t>BỐI CẢNH THỰC TẾ</a:t>
            </a:r>
          </a:p>
        </p:txBody>
      </p:sp>
      <p:sp>
        <p:nvSpPr>
          <p:cNvPr id="100017" name="TextBox 5"/>
          <p:cNvSpPr txBox="1"/>
          <p:nvPr/>
        </p:nvSpPr>
        <p:spPr>
          <a:xfrm xmlns:a="http://schemas.openxmlformats.org/drawingml/2006/main">
            <a:off x="648000" y="2016000"/>
            <a:ext cx="3240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334155"/>
                </a:solidFill>
                <a:latin typeface="Calibri"/>
                <a:ea typeface="Calibri"/>
              </a:rPr>
              <a:t>• Tai nạn lao động trong xây dựng &amp; công nghiệp tiếp tục là vấn đề nhức nhối.</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85% rủi ro chấn thương bắt nguồn từ việc không mang đủ đồ bảo hộ (PPE).</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5 trang bị bắt buộc: Mũ bảo hiểm, áo phản quang, ủng, găng tay, kính bảo hộ.</a:t>
            </a:r>
          </a:p>
        </p:txBody>
      </p:sp>
      <p:sp>
        <p:nvSpPr>
          <p:cNvPr id="100018" name="TextBox 6"/>
          <p:cNvSpPr/>
          <p:nvPr/>
        </p:nvSpPr>
        <p:spPr>
          <a:xfrm xmlns:a="http://schemas.openxmlformats.org/drawingml/2006/main">
            <a:off x="4356000" y="1296000"/>
            <a:ext cx="3456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19" name="TextBox 7"/>
          <p:cNvSpPr/>
          <p:nvPr/>
        </p:nvSpPr>
        <p:spPr>
          <a:xfrm xmlns:a="http://schemas.openxmlformats.org/drawingml/2006/main">
            <a:off x="4428000" y="1440000"/>
            <a:ext cx="3312000" cy="432000"/>
          </a:xfrm>
          <a:prstGeom xmlns:a="http://schemas.openxmlformats.org/drawingml/2006/main" prst="roundRect">
            <a:avLst/>
          </a:prstGeom>
          <a:solidFill xmlns:a="http://schemas.openxmlformats.org/drawingml/2006/main">
            <a:srgbClr val="DC262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FFFFFF"/>
                </a:solidFill>
                <a:latin typeface="Calibri"/>
                <a:ea typeface="Calibri"/>
              </a:rPr>
              <a:t>HẠN CHẾ GIÁM SÁT THỦ CÔNG</a:t>
            </a:r>
          </a:p>
        </p:txBody>
      </p:sp>
      <p:sp>
        <p:nvSpPr>
          <p:cNvPr id="100020" name="TextBox 8"/>
          <p:cNvSpPr txBox="1"/>
          <p:nvPr/>
        </p:nvSpPr>
        <p:spPr>
          <a:xfrm xmlns:a="http://schemas.openxmlformats.org/drawingml/2006/main">
            <a:off x="4464000" y="2016000"/>
            <a:ext cx="3240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334155"/>
                </a:solidFill>
                <a:latin typeface="Calibri"/>
                <a:ea typeface="Calibri"/>
              </a:rPr>
              <a:t>• Nhân lực mỏng: Không thể tuần tra bao quát toàn bộ khuôn viên rộng lớn.</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Gián đoạn: Không thể duy trì giám sát liên tục 24/7 tại mọi vị trí nguy hiểm.</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Thiếu chứng cứ: Khó lưu vết và thiếu báo cáo thống kê chính xác theo mốc thời gian.</a:t>
            </a:r>
          </a:p>
        </p:txBody>
      </p:sp>
      <p:sp>
        <p:nvSpPr>
          <p:cNvPr id="100021" name="TextBox 9"/>
          <p:cNvSpPr/>
          <p:nvPr/>
        </p:nvSpPr>
        <p:spPr>
          <a:xfrm xmlns:a="http://schemas.openxmlformats.org/drawingml/2006/main">
            <a:off x="8172000" y="1296000"/>
            <a:ext cx="3456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22" name="TextBox 10"/>
          <p:cNvSpPr/>
          <p:nvPr/>
        </p:nvSpPr>
        <p:spPr>
          <a:xfrm xmlns:a="http://schemas.openxmlformats.org/drawingml/2006/main">
            <a:off x="8244000" y="1440000"/>
            <a:ext cx="3312000" cy="432000"/>
          </a:xfrm>
          <a:prstGeom xmlns:a="http://schemas.openxmlformats.org/drawingml/2006/main" prst="roundRect">
            <a:avLst/>
          </a:prstGeom>
          <a:solidFill xmlns:a="http://schemas.openxmlformats.org/drawingml/2006/main">
            <a:srgbClr val="0284C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FFFFFF"/>
                </a:solidFill>
                <a:latin typeface="Calibri"/>
                <a:ea typeface="Calibri"/>
              </a:rPr>
              <a:t>GIẢI PHÁP AI SAFETY MONITOR</a:t>
            </a:r>
          </a:p>
        </p:txBody>
      </p:sp>
      <p:sp>
        <p:nvSpPr>
          <p:cNvPr id="100023" name="TextBox 11"/>
          <p:cNvSpPr txBox="1"/>
          <p:nvPr/>
        </p:nvSpPr>
        <p:spPr>
          <a:xfrm xmlns:a="http://schemas.openxmlformats.org/drawingml/2006/main">
            <a:off x="8280000" y="2016000"/>
            <a:ext cx="3240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334155"/>
                </a:solidFill>
                <a:latin typeface="Calibri"/>
                <a:ea typeface="Calibri"/>
              </a:rPr>
              <a:t>• Thị giác máy tính: Ứng dụng YOLO11 phát hiện chính xác 10 lớp trang bị PPE.</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Thời gian thực: Xử lý video tốc độ cao (&lt; 15ms), chống trùng lặp với ByteTrack.</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Tự động hóa: Tự chụp ảnh vi phạm, đẩy cảnh báo Telegram và xuất báo cáo Excel.</a:t>
            </a:r>
          </a:p>
        </p:txBody>
      </p:sp>
    </p:spTree>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24" name="TextBox 1"/>
          <p:cNvSpPr txBox="1"/>
          <p:nvPr/>
        </p:nvSpPr>
        <p:spPr>
          <a:xfrm xmlns:a="http://schemas.openxmlformats.org/drawingml/2006/main">
            <a:off x="540000" y="324000"/>
            <a:ext cx="111132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3200" b="1">
                <a:solidFill>
                  <a:srgbClr val="0F172A"/>
                </a:solidFill>
                <a:latin typeface="Trebuchet MS"/>
                <a:ea typeface="Trebuchet MS"/>
              </a:rPr>
              <a:t>2. Mục tiêu Trọng tâm Giai đoạn Hiện tại</a:t>
            </a:r>
          </a:p>
        </p:txBody>
      </p:sp>
      <p:sp>
        <p:nvSpPr>
          <p:cNvPr id="100025" name="TextBox 2"/>
          <p:cNvSpPr txBox="1"/>
          <p:nvPr/>
        </p:nvSpPr>
        <p:spPr>
          <a:xfrm xmlns:a="http://schemas.openxmlformats.org/drawingml/2006/main">
            <a:off x="540000" y="900000"/>
            <a:ext cx="111132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64748B"/>
                </a:solidFill>
                <a:latin typeface="Calibri"/>
                <a:ea typeface="Calibri"/>
              </a:rPr>
              <a:t>3 Trọng tâm cốt lõi đã được hoàn thiện trong giai đoạn báo cáo tiến độ</a:t>
            </a:r>
          </a:p>
        </p:txBody>
      </p:sp>
      <p:sp>
        <p:nvSpPr>
          <p:cNvPr id="100026" name="TextBox 3"/>
          <p:cNvSpPr/>
          <p:nvPr/>
        </p:nvSpPr>
        <p:spPr>
          <a:xfrm xmlns:a="http://schemas.openxmlformats.org/drawingml/2006/main">
            <a:off x="540000" y="1296000"/>
            <a:ext cx="3456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27" name="TextBox 4"/>
          <p:cNvSpPr/>
          <p:nvPr/>
        </p:nvSpPr>
        <p:spPr>
          <a:xfrm xmlns:a="http://schemas.openxmlformats.org/drawingml/2006/main">
            <a:off x="612000" y="1440000"/>
            <a:ext cx="3312000" cy="432000"/>
          </a:xfrm>
          <a:prstGeom xmlns:a="http://schemas.openxmlformats.org/drawingml/2006/main" prst="roundRect">
            <a:avLst/>
          </a:prstGeom>
          <a:solidFill xmlns:a="http://schemas.openxmlformats.org/drawingml/2006/main">
            <a:srgbClr val="E0F2FE"/>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0284C7"/>
                </a:solidFill>
                <a:latin typeface="Calibri"/>
                <a:ea typeface="Calibri"/>
              </a:rPr>
              <a:t>MỤC TIÊU 01</a:t>
            </a:r>
          </a:p>
        </p:txBody>
      </p:sp>
      <p:sp>
        <p:nvSpPr>
          <p:cNvPr id="100028" name="TextBox 5"/>
          <p:cNvSpPr txBox="1"/>
          <p:nvPr/>
        </p:nvSpPr>
        <p:spPr>
          <a:xfrm xmlns:a="http://schemas.openxmlformats.org/drawingml/2006/main">
            <a:off x="648000" y="1944000"/>
            <a:ext cx="324000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900" b="1">
                <a:solidFill>
                  <a:srgbClr val="0F172A"/>
                </a:solidFill>
                <a:latin typeface="Trebuchet MS"/>
                <a:ea typeface="Trebuchet MS"/>
              </a:rPr>
              <a:t>Xác định Chức năng</a:t>
            </a:r>
          </a:p>
        </p:txBody>
      </p:sp>
      <p:sp>
        <p:nvSpPr>
          <p:cNvPr id="100029" name="TextBox 6"/>
          <p:cNvSpPr txBox="1"/>
          <p:nvPr/>
        </p:nvSpPr>
        <p:spPr>
          <a:xfrm xmlns:a="http://schemas.openxmlformats.org/drawingml/2006/main">
            <a:off x="648000" y="2592000"/>
            <a:ext cx="3240000" cy="36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334155"/>
                </a:solidFill>
                <a:latin typeface="Calibri"/>
                <a:ea typeface="Calibri"/>
              </a:rPr>
              <a:t>• Phân tích luồng nghiệp vụ từ Camera đến cảnh báo.</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Thiết lập quy chuẩn nhận diện 10 lớp trang bị PPE an toàn / vi phạm.</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Xây dựng giải thuật khử trùng lặp sự kiện bằng ByteTrack.</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Thiết kế cơ chế cảnh báo đa kênh (Telegram &amp; Webhook).</a:t>
            </a:r>
          </a:p>
        </p:txBody>
      </p:sp>
      <p:sp>
        <p:nvSpPr>
          <p:cNvPr id="100030" name="TextBox 7"/>
          <p:cNvSpPr/>
          <p:nvPr/>
        </p:nvSpPr>
        <p:spPr>
          <a:xfrm xmlns:a="http://schemas.openxmlformats.org/drawingml/2006/main">
            <a:off x="4356000" y="1296000"/>
            <a:ext cx="3456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31" name="TextBox 8"/>
          <p:cNvSpPr/>
          <p:nvPr/>
        </p:nvSpPr>
        <p:spPr>
          <a:xfrm xmlns:a="http://schemas.openxmlformats.org/drawingml/2006/main">
            <a:off x="4428000" y="1440000"/>
            <a:ext cx="3312000" cy="432000"/>
          </a:xfrm>
          <a:prstGeom xmlns:a="http://schemas.openxmlformats.org/drawingml/2006/main" prst="roundRect">
            <a:avLst/>
          </a:prstGeom>
          <a:solidFill xmlns:a="http://schemas.openxmlformats.org/drawingml/2006/main">
            <a:srgbClr val="E0F2FE"/>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0284C7"/>
                </a:solidFill>
                <a:latin typeface="Calibri"/>
                <a:ea typeface="Calibri"/>
              </a:rPr>
              <a:t>MỤC TIÊU 02</a:t>
            </a:r>
          </a:p>
        </p:txBody>
      </p:sp>
      <p:sp>
        <p:nvSpPr>
          <p:cNvPr id="100032" name="TextBox 9"/>
          <p:cNvSpPr txBox="1"/>
          <p:nvPr/>
        </p:nvSpPr>
        <p:spPr>
          <a:xfrm xmlns:a="http://schemas.openxmlformats.org/drawingml/2006/main">
            <a:off x="4464000" y="1944000"/>
            <a:ext cx="324000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900" b="1">
                <a:solidFill>
                  <a:srgbClr val="0F172A"/>
                </a:solidFill>
                <a:latin typeface="Trebuchet MS"/>
                <a:ea typeface="Trebuchet MS"/>
              </a:rPr>
              <a:t>Thiết kế Cơ sở Dữ liệu</a:t>
            </a:r>
          </a:p>
        </p:txBody>
      </p:sp>
      <p:sp>
        <p:nvSpPr>
          <p:cNvPr id="100033" name="TextBox 10"/>
          <p:cNvSpPr txBox="1"/>
          <p:nvPr/>
        </p:nvSpPr>
        <p:spPr>
          <a:xfrm xmlns:a="http://schemas.openxmlformats.org/drawingml/2006/main">
            <a:off x="4464000" y="2592000"/>
            <a:ext cx="3240000" cy="36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334155"/>
                </a:solidFill>
                <a:latin typeface="Calibri"/>
                <a:ea typeface="Calibri"/>
              </a:rPr>
              <a:t>• Thiết kế lược đồ CSDL PostgreSQL 15 chuẩn hóa.</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Lưu vết toàn bộ lịch sử vi phạm kèm URL ảnh snapshot và độ tin cậy.</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Lưu trữ cấu hình quy tắc và thông số Bot Telegram.</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Tích hợp In-memory Storage cho môi trường độc lập.</a:t>
            </a:r>
          </a:p>
        </p:txBody>
      </p:sp>
      <p:sp>
        <p:nvSpPr>
          <p:cNvPr id="100034" name="TextBox 11"/>
          <p:cNvSpPr/>
          <p:nvPr/>
        </p:nvSpPr>
        <p:spPr>
          <a:xfrm xmlns:a="http://schemas.openxmlformats.org/drawingml/2006/main">
            <a:off x="8172000" y="1296000"/>
            <a:ext cx="3456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35" name="TextBox 12"/>
          <p:cNvSpPr/>
          <p:nvPr/>
        </p:nvSpPr>
        <p:spPr>
          <a:xfrm xmlns:a="http://schemas.openxmlformats.org/drawingml/2006/main">
            <a:off x="8244000" y="1440000"/>
            <a:ext cx="3312000" cy="432000"/>
          </a:xfrm>
          <a:prstGeom xmlns:a="http://schemas.openxmlformats.org/drawingml/2006/main" prst="roundRect">
            <a:avLst/>
          </a:prstGeom>
          <a:solidFill xmlns:a="http://schemas.openxmlformats.org/drawingml/2006/main">
            <a:srgbClr val="E0F2FE"/>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0284C7"/>
                </a:solidFill>
                <a:latin typeface="Calibri"/>
                <a:ea typeface="Calibri"/>
              </a:rPr>
              <a:t>MỤC TIÊU 03</a:t>
            </a:r>
          </a:p>
        </p:txBody>
      </p:sp>
      <p:sp>
        <p:nvSpPr>
          <p:cNvPr id="100036" name="TextBox 13"/>
          <p:cNvSpPr txBox="1"/>
          <p:nvPr/>
        </p:nvSpPr>
        <p:spPr>
          <a:xfrm xmlns:a="http://schemas.openxmlformats.org/drawingml/2006/main">
            <a:off x="8280000" y="1944000"/>
            <a:ext cx="324000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900" b="1">
                <a:solidFill>
                  <a:srgbClr val="0F172A"/>
                </a:solidFill>
                <a:latin typeface="Trebuchet MS"/>
                <a:ea typeface="Trebuchet MS"/>
              </a:rPr>
              <a:t>Xây dựng Giao diện UI</a:t>
            </a:r>
          </a:p>
        </p:txBody>
      </p:sp>
      <p:sp>
        <p:nvSpPr>
          <p:cNvPr id="100037" name="TextBox 14"/>
          <p:cNvSpPr txBox="1"/>
          <p:nvPr/>
        </p:nvSpPr>
        <p:spPr>
          <a:xfrm xmlns:a="http://schemas.openxmlformats.org/drawingml/2006/main">
            <a:off x="8280000" y="2592000"/>
            <a:ext cx="3240000" cy="36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334155"/>
                </a:solidFill>
                <a:latin typeface="Calibri"/>
                <a:ea typeface="Calibri"/>
              </a:rPr>
              <a:t>• Xây dựng Dashboard Dark Mode thời gian thực bằng React + Vite.</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Truyền tải luồng video WebSocket độ trễ dưới 15ms.</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Thiết kế Modal xem ảnh snapshot vi phạm chất lượng cao.</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Tích hợp công cụ trích xuất báo cáo Excel 3-sheet.</a:t>
            </a:r>
          </a:p>
        </p:txBody>
      </p:sp>
    </p:spTree>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38" name="TextBox 1"/>
          <p:cNvSpPr txBox="1"/>
          <p:nvPr/>
        </p:nvSpPr>
        <p:spPr>
          <a:xfrm xmlns:a="http://schemas.openxmlformats.org/drawingml/2006/main">
            <a:off x="540000" y="324000"/>
            <a:ext cx="111132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3200" b="1">
                <a:solidFill>
                  <a:srgbClr val="0F172A"/>
                </a:solidFill>
                <a:latin typeface="Trebuchet MS"/>
                <a:ea typeface="Trebuchet MS"/>
              </a:rPr>
              <a:t>3. Phân cấp Chức năng theo Nhóm Người dùng</a:t>
            </a:r>
          </a:p>
        </p:txBody>
      </p:sp>
      <p:sp>
        <p:nvSpPr>
          <p:cNvPr id="100039" name="TextBox 2"/>
          <p:cNvSpPr txBox="1"/>
          <p:nvPr/>
        </p:nvSpPr>
        <p:spPr>
          <a:xfrm xmlns:a="http://schemas.openxmlformats.org/drawingml/2006/main">
            <a:off x="540000" y="900000"/>
            <a:ext cx="111132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64748B"/>
                </a:solidFill>
                <a:latin typeface="Calibri"/>
                <a:ea typeface="Calibri"/>
              </a:rPr>
              <a:t>Phân quyền và các tác vụ tương tác trong hệ thống AI Safety Monitor</a:t>
            </a:r>
          </a:p>
        </p:txBody>
      </p:sp>
      <p:sp>
        <p:nvSpPr>
          <p:cNvPr id="100040" name="TextBox 3"/>
          <p:cNvSpPr/>
          <p:nvPr/>
        </p:nvSpPr>
        <p:spPr>
          <a:xfrm xmlns:a="http://schemas.openxmlformats.org/drawingml/2006/main">
            <a:off x="540000" y="1296000"/>
            <a:ext cx="3456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41" name="TextBox 4"/>
          <p:cNvSpPr/>
          <p:nvPr/>
        </p:nvSpPr>
        <p:spPr>
          <a:xfrm xmlns:a="http://schemas.openxmlformats.org/drawingml/2006/main">
            <a:off x="612000" y="1440000"/>
            <a:ext cx="3312000" cy="432000"/>
          </a:xfrm>
          <a:prstGeom xmlns:a="http://schemas.openxmlformats.org/drawingml/2006/main" prst="roundRect">
            <a:avLst/>
          </a:prstGeom>
          <a:solidFill xmlns:a="http://schemas.openxmlformats.org/drawingml/2006/main">
            <a:srgbClr val="0F172A"/>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FFFFFF"/>
                </a:solidFill>
                <a:latin typeface="Calibri"/>
                <a:ea typeface="Calibri"/>
              </a:rPr>
              <a:t>QUẢN TRỊ VIÊN (ADMIN)</a:t>
            </a:r>
          </a:p>
        </p:txBody>
      </p:sp>
      <p:sp>
        <p:nvSpPr>
          <p:cNvPr id="100042" name="TextBox 5"/>
          <p:cNvSpPr txBox="1"/>
          <p:nvPr/>
        </p:nvSpPr>
        <p:spPr>
          <a:xfrm xmlns:a="http://schemas.openxmlformats.org/drawingml/2006/main">
            <a:off x="648000" y="2016000"/>
            <a:ext cx="3240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334155"/>
                </a:solidFill>
                <a:latin typeface="Calibri"/>
                <a:ea typeface="Calibri"/>
              </a:rPr>
              <a:t>• Quản lý nguồn cấp Video: Chuyển đổi linh hoạt Webcam, Camera RTSP hoặc Mock Stream.</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Cấu hình quy tắc an toàn: Bật/tắt kiểm tra Mũ, Áo, Ủng, Găng, Kính theo khu vực.</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Cài đặt kênh cảnh báo: Thiết lập Telegram Bot Token, Chat ID và Webhook URL.</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Quản trị tham số: Tinh chỉnh thời gian Snapshot Cooldown (giây) và ngưỡng tin cậy.</a:t>
            </a:r>
          </a:p>
        </p:txBody>
      </p:sp>
      <p:sp>
        <p:nvSpPr>
          <p:cNvPr id="100043" name="TextBox 6"/>
          <p:cNvSpPr/>
          <p:nvPr/>
        </p:nvSpPr>
        <p:spPr>
          <a:xfrm xmlns:a="http://schemas.openxmlformats.org/drawingml/2006/main">
            <a:off x="4356000" y="1296000"/>
            <a:ext cx="3456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44" name="TextBox 7"/>
          <p:cNvSpPr/>
          <p:nvPr/>
        </p:nvSpPr>
        <p:spPr>
          <a:xfrm xmlns:a="http://schemas.openxmlformats.org/drawingml/2006/main">
            <a:off x="4428000" y="1440000"/>
            <a:ext cx="3312000" cy="432000"/>
          </a:xfrm>
          <a:prstGeom xmlns:a="http://schemas.openxmlformats.org/drawingml/2006/main" prst="roundRect">
            <a:avLst/>
          </a:prstGeom>
          <a:solidFill xmlns:a="http://schemas.openxmlformats.org/drawingml/2006/main">
            <a:srgbClr val="0284C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FFFFFF"/>
                </a:solidFill>
                <a:latin typeface="Calibri"/>
                <a:ea typeface="Calibri"/>
              </a:rPr>
              <a:t>CÁN BỘ AN TOÀN (OFFICER)</a:t>
            </a:r>
          </a:p>
        </p:txBody>
      </p:sp>
      <p:sp>
        <p:nvSpPr>
          <p:cNvPr id="100045" name="TextBox 8"/>
          <p:cNvSpPr txBox="1"/>
          <p:nvPr/>
        </p:nvSpPr>
        <p:spPr>
          <a:xfrm xmlns:a="http://schemas.openxmlformats.org/drawingml/2006/main">
            <a:off x="4464000" y="2016000"/>
            <a:ext cx="3240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334155"/>
                </a:solidFill>
                <a:latin typeface="Calibri"/>
                <a:ea typeface="Calibri"/>
              </a:rPr>
              <a:t>• Giám sát thời gian thực: Theo dõi luồng video trực tiếp với nhãn PPE trực quan.</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Nhận cảnh báo tức thời: Nhận tin nhắn và ảnh vi phạm qua Telegram ngay khi xảy ra.</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Tra cứu &amp; Kiểm tra: Xem chi tiết nhật ký vi phạm và phóng to ảnh Snapshot bằng chứng.</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Xuất báo cáo nghiệm thu: Trích xuất dữ liệu ra file Excel (.xlsx) đa kỳ hoặc CSV.</a:t>
            </a:r>
          </a:p>
        </p:txBody>
      </p:sp>
      <p:sp>
        <p:nvSpPr>
          <p:cNvPr id="100046" name="TextBox 9"/>
          <p:cNvSpPr/>
          <p:nvPr/>
        </p:nvSpPr>
        <p:spPr>
          <a:xfrm xmlns:a="http://schemas.openxmlformats.org/drawingml/2006/main">
            <a:off x="8172000" y="1296000"/>
            <a:ext cx="3456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47" name="TextBox 10"/>
          <p:cNvSpPr/>
          <p:nvPr/>
        </p:nvSpPr>
        <p:spPr>
          <a:xfrm xmlns:a="http://schemas.openxmlformats.org/drawingml/2006/main">
            <a:off x="8244000" y="1440000"/>
            <a:ext cx="3312000" cy="432000"/>
          </a:xfrm>
          <a:prstGeom xmlns:a="http://schemas.openxmlformats.org/drawingml/2006/main" prst="roundRect">
            <a:avLst/>
          </a:prstGeom>
          <a:solidFill xmlns:a="http://schemas.openxmlformats.org/drawingml/2006/main">
            <a:srgbClr val="05966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FFFFFF"/>
                </a:solidFill>
                <a:latin typeface="Calibri"/>
                <a:ea typeface="Calibri"/>
              </a:rPr>
              <a:t>ENGINE AI (AUTOMATED)</a:t>
            </a:r>
          </a:p>
        </p:txBody>
      </p:sp>
      <p:sp>
        <p:nvSpPr>
          <p:cNvPr id="100048" name="TextBox 11"/>
          <p:cNvSpPr txBox="1"/>
          <p:nvPr/>
        </p:nvSpPr>
        <p:spPr>
          <a:xfrm xmlns:a="http://schemas.openxmlformats.org/drawingml/2006/main">
            <a:off x="8280000" y="2016000"/>
            <a:ext cx="3240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334155"/>
                </a:solidFill>
                <a:latin typeface="Calibri"/>
                <a:ea typeface="Calibri"/>
              </a:rPr>
              <a:t>• Suy luận mô hình YOLO11: Phát hiện 10 lớp PPE tốc độ cao (~10.3ms/frame).</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Theo dõi đa đối tượng: ByteTrack gán track_id và khử trùng lặp cảnh báo vi phạm.</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Tự động chụp Snapshot: Đóng dấu thời gian, vẽ bounding box và lưu tệp JPEG.</a:t>
            </a:r>
          </a:p>
          <a:p xmlns:a="http://schemas.openxmlformats.org/drawingml/2006/main">
            <a:pPr algn="l"/>
            <a:r>
              <a:rPr lang="en-US" sz="1700" b="0">
                <a:solidFill>
                  <a:srgbClr val="334155"/>
                </a:solidFill>
                <a:latin typeface="Calibri"/>
                <a:ea typeface="Calibri"/>
              </a:rPr>
              <a:t/>
            </a:r>
          </a:p>
          <a:p xmlns:a="http://schemas.openxmlformats.org/drawingml/2006/main">
            <a:pPr algn="l"/>
            <a:r>
              <a:rPr lang="en-US" sz="1700" b="0">
                <a:solidFill>
                  <a:srgbClr val="334155"/>
                </a:solidFill>
                <a:latin typeface="Calibri"/>
                <a:ea typeface="Calibri"/>
              </a:rPr>
              <a:t>• Tính toán chỉ số: Cập nhật tỷ lệ tuân thủ (%) và thống kê số liệu theo thời gian thực.</a:t>
            </a:r>
          </a:p>
        </p:txBody>
      </p:sp>
    </p:spTree>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49" name="TextBox 1"/>
          <p:cNvSpPr txBox="1"/>
          <p:nvPr/>
        </p:nvSpPr>
        <p:spPr>
          <a:xfrm xmlns:a="http://schemas.openxmlformats.org/drawingml/2006/main">
            <a:off x="540000" y="324000"/>
            <a:ext cx="111132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3200" b="1">
                <a:solidFill>
                  <a:srgbClr val="0F172A"/>
                </a:solidFill>
                <a:latin typeface="Trebuchet MS"/>
                <a:ea typeface="Trebuchet MS"/>
              </a:rPr>
              <a:t>4. Chi tiết các Phân hệ Chức năng Cốt lõi</a:t>
            </a:r>
          </a:p>
        </p:txBody>
      </p:sp>
      <p:sp>
        <p:nvSpPr>
          <p:cNvPr id="100050" name="TextBox 2"/>
          <p:cNvSpPr txBox="1"/>
          <p:nvPr/>
        </p:nvSpPr>
        <p:spPr>
          <a:xfrm xmlns:a="http://schemas.openxmlformats.org/drawingml/2006/main">
            <a:off x="540000" y="900000"/>
            <a:ext cx="111132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64748B"/>
                </a:solidFill>
                <a:latin typeface="Calibri"/>
                <a:ea typeface="Calibri"/>
              </a:rPr>
              <a:t>4 Phân hệ kỹ thuật then chốt phối hợp đồng bộ trong toàn bộ luồng xử lý</a:t>
            </a:r>
          </a:p>
        </p:txBody>
      </p:sp>
      <p:sp>
        <p:nvSpPr>
          <p:cNvPr id="100051" name="TextBox 3"/>
          <p:cNvSpPr/>
          <p:nvPr/>
        </p:nvSpPr>
        <p:spPr>
          <a:xfrm xmlns:a="http://schemas.openxmlformats.org/drawingml/2006/main">
            <a:off x="540000" y="1296000"/>
            <a:ext cx="5400000" cy="24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52" name="TextBox 4"/>
          <p:cNvSpPr/>
          <p:nvPr/>
        </p:nvSpPr>
        <p:spPr>
          <a:xfrm xmlns:a="http://schemas.openxmlformats.org/drawingml/2006/main">
            <a:off x="612000" y="1368000"/>
            <a:ext cx="5256000" cy="360000"/>
          </a:xfrm>
          <a:prstGeom xmlns:a="http://schemas.openxmlformats.org/drawingml/2006/main" prst="roundRect">
            <a:avLst/>
          </a:prstGeom>
          <a:solidFill xmlns:a="http://schemas.openxmlformats.org/drawingml/2006/main">
            <a:srgbClr val="E0F2FE"/>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500" b="1">
                <a:solidFill>
                  <a:srgbClr val="0284C7"/>
                </a:solidFill>
                <a:latin typeface="Calibri"/>
                <a:ea typeface="Calibri"/>
              </a:rPr>
              <a:t>1. Video Streaming &amp; Nhận diện PPE</a:t>
            </a:r>
          </a:p>
        </p:txBody>
      </p:sp>
      <p:sp>
        <p:nvSpPr>
          <p:cNvPr id="100053" name="TextBox 5"/>
          <p:cNvSpPr txBox="1"/>
          <p:nvPr/>
        </p:nvSpPr>
        <p:spPr>
          <a:xfrm xmlns:a="http://schemas.openxmlformats.org/drawingml/2006/main">
            <a:off x="648000" y="1800000"/>
            <a:ext cx="5184000" cy="18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34155"/>
                </a:solidFill>
                <a:latin typeface="Calibri"/>
                <a:ea typeface="Calibri"/>
              </a:rPr>
              <a:t>• Hỗ trợ đa dạng nguồn video: Webcam USB, Camera IP RTSP và tệp Video.</a:t>
            </a:r>
          </a:p>
          <a:p xmlns:a="http://schemas.openxmlformats.org/drawingml/2006/main">
            <a:pPr algn="l"/>
            <a:r>
              <a:rPr lang="en-US" sz="1600" b="0">
                <a:solidFill>
                  <a:srgbClr val="334155"/>
                </a:solidFill>
                <a:latin typeface="Calibri"/>
                <a:ea typeface="Calibri"/>
              </a:rPr>
              <a:t>• Pipeline YOLO11s nhận diện 10 lớp đối tượng (mũ, áo, ủng, găng, kính).</a:t>
            </a:r>
          </a:p>
          <a:p xmlns:a="http://schemas.openxmlformats.org/drawingml/2006/main">
            <a:pPr algn="l"/>
            <a:r>
              <a:rPr lang="en-US" sz="1600" b="0">
                <a:solidFill>
                  <a:srgbClr val="334155"/>
                </a:solidFill>
                <a:latin typeface="Calibri"/>
                <a:ea typeface="Calibri"/>
              </a:rPr>
              <a:t>• Tốc độ xử lý pipeline đạt ~68.5 FPS (14.6ms) đảm bảo độ trễ siêu thấp.</a:t>
            </a:r>
          </a:p>
        </p:txBody>
      </p:sp>
      <p:sp>
        <p:nvSpPr>
          <p:cNvPr id="100054" name="TextBox 6"/>
          <p:cNvSpPr/>
          <p:nvPr/>
        </p:nvSpPr>
        <p:spPr>
          <a:xfrm xmlns:a="http://schemas.openxmlformats.org/drawingml/2006/main">
            <a:off x="6228000" y="1296000"/>
            <a:ext cx="5400000" cy="24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55" name="TextBox 7"/>
          <p:cNvSpPr/>
          <p:nvPr/>
        </p:nvSpPr>
        <p:spPr>
          <a:xfrm xmlns:a="http://schemas.openxmlformats.org/drawingml/2006/main">
            <a:off x="6300000" y="1368000"/>
            <a:ext cx="5256000" cy="360000"/>
          </a:xfrm>
          <a:prstGeom xmlns:a="http://schemas.openxmlformats.org/drawingml/2006/main" prst="roundRect">
            <a:avLst/>
          </a:prstGeom>
          <a:solidFill xmlns:a="http://schemas.openxmlformats.org/drawingml/2006/main">
            <a:srgbClr val="E0F2FE"/>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500" b="1">
                <a:solidFill>
                  <a:srgbClr val="0284C7"/>
                </a:solidFill>
                <a:latin typeface="Calibri"/>
                <a:ea typeface="Calibri"/>
              </a:rPr>
              <a:t>2. Khử trùng lặp &amp; Chụp Snapshot</a:t>
            </a:r>
          </a:p>
        </p:txBody>
      </p:sp>
      <p:sp>
        <p:nvSpPr>
          <p:cNvPr id="100056" name="TextBox 8"/>
          <p:cNvSpPr txBox="1"/>
          <p:nvPr/>
        </p:nvSpPr>
        <p:spPr>
          <a:xfrm xmlns:a="http://schemas.openxmlformats.org/drawingml/2006/main">
            <a:off x="6336000" y="1800000"/>
            <a:ext cx="5184000" cy="18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34155"/>
                </a:solidFill>
                <a:latin typeface="Calibri"/>
                <a:ea typeface="Calibri"/>
              </a:rPr>
              <a:t>• Thuật toán ByteTrack theo dõi công nhân xuyên suốt các khung hình.</a:t>
            </a:r>
          </a:p>
          <a:p xmlns:a="http://schemas.openxmlformats.org/drawingml/2006/main">
            <a:pPr algn="l"/>
            <a:r>
              <a:rPr lang="en-US" sz="1600" b="0">
                <a:solidFill>
                  <a:srgbClr val="334155"/>
                </a:solidFill>
                <a:latin typeface="Calibri"/>
                <a:ea typeface="Calibri"/>
              </a:rPr>
              <a:t>• Bộ lọc Deduplication ngăn chặn spam cảnh báo khi công nhân đứng cố định.</a:t>
            </a:r>
          </a:p>
          <a:p xmlns:a="http://schemas.openxmlformats.org/drawingml/2006/main">
            <a:pPr algn="l"/>
            <a:r>
              <a:rPr lang="en-US" sz="1600" b="0">
                <a:solidFill>
                  <a:srgbClr val="334155"/>
                </a:solidFill>
                <a:latin typeface="Calibri"/>
                <a:ea typeface="Calibri"/>
              </a:rPr>
              <a:t>• Tự động cắt khung hình, gắn bounding box đỏ và lưu trữ JPEG chất lượng cao.</a:t>
            </a:r>
          </a:p>
        </p:txBody>
      </p:sp>
      <p:sp>
        <p:nvSpPr>
          <p:cNvPr id="100057" name="TextBox 9"/>
          <p:cNvSpPr/>
          <p:nvPr/>
        </p:nvSpPr>
        <p:spPr>
          <a:xfrm xmlns:a="http://schemas.openxmlformats.org/drawingml/2006/main">
            <a:off x="540000" y="3852000"/>
            <a:ext cx="5400000" cy="24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58" name="TextBox 10"/>
          <p:cNvSpPr/>
          <p:nvPr/>
        </p:nvSpPr>
        <p:spPr>
          <a:xfrm xmlns:a="http://schemas.openxmlformats.org/drawingml/2006/main">
            <a:off x="612000" y="3924000"/>
            <a:ext cx="5256000" cy="360000"/>
          </a:xfrm>
          <a:prstGeom xmlns:a="http://schemas.openxmlformats.org/drawingml/2006/main" prst="roundRect">
            <a:avLst/>
          </a:prstGeom>
          <a:solidFill xmlns:a="http://schemas.openxmlformats.org/drawingml/2006/main">
            <a:srgbClr val="E0F2FE"/>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500" b="1">
                <a:solidFill>
                  <a:srgbClr val="0284C7"/>
                </a:solidFill>
                <a:latin typeface="Calibri"/>
                <a:ea typeface="Calibri"/>
              </a:rPr>
              <a:t>3. Cảnh báo Đa kênh Bất đồng bộ</a:t>
            </a:r>
          </a:p>
        </p:txBody>
      </p:sp>
      <p:sp>
        <p:nvSpPr>
          <p:cNvPr id="100059" name="TextBox 11"/>
          <p:cNvSpPr txBox="1"/>
          <p:nvPr/>
        </p:nvSpPr>
        <p:spPr>
          <a:xfrm xmlns:a="http://schemas.openxmlformats.org/drawingml/2006/main">
            <a:off x="648000" y="4356000"/>
            <a:ext cx="5184000" cy="18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34155"/>
                </a:solidFill>
                <a:latin typeface="Calibri"/>
                <a:ea typeface="Calibri"/>
              </a:rPr>
              <a:t>• Telegram Bot API: Gửi thông báo Markdown kèm ảnh vi phạm tức thì.</a:t>
            </a:r>
          </a:p>
          <a:p xmlns:a="http://schemas.openxmlformats.org/drawingml/2006/main">
            <a:pPr algn="l"/>
            <a:r>
              <a:rPr lang="en-US" sz="1600" b="0">
                <a:solidFill>
                  <a:srgbClr val="334155"/>
                </a:solidFill>
                <a:latin typeface="Calibri"/>
                <a:ea typeface="Calibri"/>
              </a:rPr>
              <a:t>• Webhook HTTP: Đẩy sự kiện JSON tích hợp hệ thống phần mềm doanh nghiệp.</a:t>
            </a:r>
          </a:p>
          <a:p xmlns:a="http://schemas.openxmlformats.org/drawingml/2006/main">
            <a:pPr algn="l"/>
            <a:r>
              <a:rPr lang="en-US" sz="1600" b="0">
                <a:solidFill>
                  <a:srgbClr val="334155"/>
                </a:solidFill>
                <a:latin typeface="Calibri"/>
                <a:ea typeface="Calibri"/>
              </a:rPr>
              <a:t>• Cảnh báo tại chỗ: Hiệu ứng nhấp nháy đỏ trên màn hình và âm thanh buzzer.</a:t>
            </a:r>
          </a:p>
        </p:txBody>
      </p:sp>
      <p:sp>
        <p:nvSpPr>
          <p:cNvPr id="100060" name="TextBox 12"/>
          <p:cNvSpPr/>
          <p:nvPr/>
        </p:nvSpPr>
        <p:spPr>
          <a:xfrm xmlns:a="http://schemas.openxmlformats.org/drawingml/2006/main">
            <a:off x="6228000" y="3852000"/>
            <a:ext cx="5400000" cy="24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61" name="TextBox 13"/>
          <p:cNvSpPr/>
          <p:nvPr/>
        </p:nvSpPr>
        <p:spPr>
          <a:xfrm xmlns:a="http://schemas.openxmlformats.org/drawingml/2006/main">
            <a:off x="6300000" y="3924000"/>
            <a:ext cx="5256000" cy="360000"/>
          </a:xfrm>
          <a:prstGeom xmlns:a="http://schemas.openxmlformats.org/drawingml/2006/main" prst="roundRect">
            <a:avLst/>
          </a:prstGeom>
          <a:solidFill xmlns:a="http://schemas.openxmlformats.org/drawingml/2006/main">
            <a:srgbClr val="E0F2FE"/>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500" b="1">
                <a:solidFill>
                  <a:srgbClr val="0284C7"/>
                </a:solidFill>
                <a:latin typeface="Calibri"/>
                <a:ea typeface="Calibri"/>
              </a:rPr>
              <a:t>4. Thống kê &amp; Xuất Báo cáo Excel</a:t>
            </a:r>
          </a:p>
        </p:txBody>
      </p:sp>
      <p:sp>
        <p:nvSpPr>
          <p:cNvPr id="100062" name="TextBox 14"/>
          <p:cNvSpPr txBox="1"/>
          <p:nvPr/>
        </p:nvSpPr>
        <p:spPr>
          <a:xfrm xmlns:a="http://schemas.openxmlformats.org/drawingml/2006/main">
            <a:off x="6336000" y="4356000"/>
            <a:ext cx="5184000" cy="18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34155"/>
                </a:solidFill>
                <a:latin typeface="Calibri"/>
                <a:ea typeface="Calibri"/>
              </a:rPr>
              <a:t>• Tính toán tỷ lệ tuân thủ (Compliance Rate) và biểu đồ phân bổ lỗi vi phạm.</a:t>
            </a:r>
          </a:p>
          <a:p xmlns:a="http://schemas.openxmlformats.org/drawingml/2006/main">
            <a:pPr algn="l"/>
            <a:r>
              <a:rPr lang="en-US" sz="1600" b="0">
                <a:solidFill>
                  <a:srgbClr val="334155"/>
                </a:solidFill>
                <a:latin typeface="Calibri"/>
                <a:ea typeface="Calibri"/>
              </a:rPr>
              <a:t>• Bộ lọc đa kỳ thông minh: Hôm nay, Tuần này, Tháng này, Toàn bộ.</a:t>
            </a:r>
          </a:p>
          <a:p xmlns:a="http://schemas.openxmlformats.org/drawingml/2006/main">
            <a:pPr algn="l"/>
            <a:r>
              <a:rPr lang="en-US" sz="1600" b="0">
                <a:solidFill>
                  <a:srgbClr val="334155"/>
                </a:solidFill>
                <a:latin typeface="Calibri"/>
                <a:ea typeface="Calibri"/>
              </a:rPr>
              <a:t>• Xuất tệp Excel (.xlsx) 3 sheet chuẩn mực: Tổng quan, Chi tiết và Thống kê.</a:t>
            </a:r>
          </a:p>
        </p:txBody>
      </p:sp>
    </p:spTree>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xmlns:a="http://schemas.openxmlformats.org/drawingml/2006/main">
        <p:nvSpPr>
          <p:cNvPr id="2" name="TextBox 1"/>
          <p:cNvSpPr txBox="1"/>
          <p:nvPr/>
        </p:nvSpPr>
        <p:spPr>
          <a:xfrm>
            <a:off x="548640" y="365760"/>
            <a:ext cx="11064240" cy="548640"/>
          </a:xfrm>
          <a:prstGeom prst="rect">
            <a:avLst/>
          </a:prstGeom>
          <a:noFill/>
        </p:spPr>
        <p:txBody>
          <a:bodyPr wrap="none">
            <a:spAutoFit/>
          </a:bodyPr>
          <a:lstStyle/>
          <a:p>
            <a:pPr>
              <a:defRPr sz="2800" b="1">
                <a:solidFill>
                  <a:srgbClr val="0F172A"/>
                </a:solidFill>
                <a:latin typeface="Trebuchet MS"/>
              </a:defRPr>
            </a:pPr>
            <a:r>
              <a:t>5. Thiết kế Kiến trúc Cơ sở Dữ liệu &amp; Lưu trữ Lai</a:t>
            </a:r>
          </a:p>
        </p:txBody>
      </p:sp>
      <p:sp xmlns:a="http://schemas.openxmlformats.org/drawingml/2006/main">
        <p:nvSpPr>
          <p:cNvPr id="3" name="TextBox 2"/>
          <p:cNvSpPr txBox="1"/>
          <p:nvPr/>
        </p:nvSpPr>
        <p:spPr>
          <a:xfrm>
            <a:off x="548640" y="960120"/>
            <a:ext cx="11064240" cy="365760"/>
          </a:xfrm>
          <a:prstGeom prst="rect">
            <a:avLst/>
          </a:prstGeom>
          <a:noFill/>
        </p:spPr>
        <p:txBody>
          <a:bodyPr wrap="none">
            <a:spAutoFit/>
          </a:bodyPr>
          <a:lstStyle/>
          <a:p>
            <a:pPr>
              <a:defRPr sz="1400">
                <a:solidFill>
                  <a:srgbClr val="64748B"/>
                </a:solidFill>
                <a:latin typeface="Calibri"/>
              </a:defRPr>
            </a:pPr>
            <a:r>
              <a:t>Mô hình lưu trữ dữ liệu lai (Hybrid Storage) và phân tầng 7 thực thể dữ liệu doanh nghiệp</a:t>
            </a:r>
          </a:p>
        </p:txBody>
      </p:sp>
      <p:sp xmlns:a="http://schemas.openxmlformats.org/drawingml/2006/main">
        <p:nvSpPr>
          <p:cNvPr id="4" name="Rounded Rectangle 3"/>
          <p:cNvSpPr/>
          <p:nvPr/>
        </p:nvSpPr>
        <p:spPr>
          <a:xfrm>
            <a:off x="548640" y="1463040"/>
            <a:ext cx="53949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ounded Rectangle 4"/>
          <p:cNvSpPr/>
          <p:nvPr/>
        </p:nvSpPr>
        <p:spPr>
          <a:xfrm>
            <a:off x="640080" y="1600200"/>
            <a:ext cx="521208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GIẢI PHÁP LƯU TRỮ LAI (HYBRID ARCHITECTURE)</a:t>
            </a:r>
          </a:p>
        </p:txBody>
      </p:sp>
      <p:sp xmlns:a="http://schemas.openxmlformats.org/drawingml/2006/main">
        <p:nvSpPr>
          <p:cNvPr id="6" name="TextBox 5"/>
          <p:cNvSpPr txBox="1"/>
          <p:nvPr/>
        </p:nvSpPr>
        <p:spPr>
          <a:xfrm>
            <a:off x="685800" y="2103120"/>
            <a:ext cx="5120640" cy="4114800"/>
          </a:xfrm>
          <a:prstGeom prst="rect">
            <a:avLst/>
          </a:prstGeom>
          <a:noFill/>
        </p:spPr>
        <p:txBody>
          <a:bodyPr wrap="square">
            <a:spAutoFit/>
          </a:bodyPr>
          <a:lstStyle/>
          <a:p>
            <a:pPr>
              <a:spcAft>
                <a:spcPts val="200"/>
              </a:spcAft>
              <a:defRPr sz="1150" b="1">
                <a:solidFill>
                  <a:srgbClr val="0284C7"/>
                </a:solidFill>
                <a:latin typeface="Calibri"/>
              </a:defRPr>
            </a:pPr>
            <a:r>
              <a:t>1. CSDL Quan hệ PostgreSQL 15 (Enterprise Core):</a:t>
            </a:r>
          </a:p>
          <a:p>
            <a:pPr>
              <a:spcAft>
                <a:spcPts val="200"/>
              </a:spcAft>
              <a:defRPr sz="1150" b="0">
                <a:solidFill>
                  <a:srgbClr val="334155"/>
                </a:solidFill>
                <a:latin typeface="Calibri"/>
              </a:defRPr>
            </a:pPr>
            <a:r>
              <a:t>• Chuẩn ACID: Bảo toàn dữ liệu giao dịch sự kiện vi phạm lâu dài.</a:t>
            </a:r>
          </a:p>
          <a:p>
            <a:pPr>
              <a:spcAft>
                <a:spcPts val="200"/>
              </a:spcAft>
              <a:defRPr sz="1150" b="0">
                <a:solidFill>
                  <a:srgbClr val="334155"/>
                </a:solidFill>
                <a:latin typeface="Calibri"/>
              </a:defRPr>
            </a:pPr>
            <a:r>
              <a:t>• Đánh chỉ mục B-Tree (Index) tối ưu truy vấn báo cáo đa kỳ &lt; 10ms.</a:t>
            </a:r>
          </a:p>
          <a:p>
            <a:pPr>
              <a:spcAft>
                <a:spcPts val="200"/>
              </a:spcAft>
              <a:defRPr sz="1150" b="0">
                <a:solidFill>
                  <a:srgbClr val="334155"/>
                </a:solidFill>
                <a:latin typeface="Calibri"/>
              </a:defRPr>
            </a:pPr>
            <a:r>
              <a:t>• Hỗ trợ kiểu JSONB lưu trữ linh hoạt chi tiết kiểm toán nhật ký.</a:t>
            </a:r>
          </a:p>
          <a:p>
            <a:pPr>
              <a:spcAft>
                <a:spcPts val="200"/>
              </a:spcAft>
              <a:defRPr sz="1150" b="0">
                <a:solidFill>
                  <a:srgbClr val="334155"/>
                </a:solidFill>
                <a:latin typeface="Calibri"/>
              </a:defRPr>
            </a:pPr>
          </a:p>
          <a:p>
            <a:pPr>
              <a:spcAft>
                <a:spcPts val="200"/>
              </a:spcAft>
              <a:defRPr sz="1150" b="1">
                <a:solidFill>
                  <a:srgbClr val="0284C7"/>
                </a:solidFill>
                <a:latin typeface="Calibri"/>
              </a:defRPr>
            </a:pPr>
            <a:r>
              <a:t>2. Bộ nhớ đệm In-Memory Storage Fallback:</a:t>
            </a:r>
          </a:p>
          <a:p>
            <a:pPr>
              <a:spcAft>
                <a:spcPts val="200"/>
              </a:spcAft>
              <a:defRPr sz="1150" b="0">
                <a:solidFill>
                  <a:srgbClr val="334155"/>
                </a:solidFill>
                <a:latin typeface="Calibri"/>
              </a:defRPr>
            </a:pPr>
            <a:r>
              <a:t>• Tự động kích hoạt khi chạy chế độ Standalone Dev hoặc mất kết nối DB.</a:t>
            </a:r>
          </a:p>
          <a:p>
            <a:pPr>
              <a:spcAft>
                <a:spcPts val="200"/>
              </a:spcAft>
              <a:defRPr sz="1150" b="0">
                <a:solidFill>
                  <a:srgbClr val="334155"/>
                </a:solidFill>
                <a:latin typeface="Calibri"/>
              </a:defRPr>
            </a:pPr>
            <a:r>
              <a:t>• Đảm bảo luồng xử lý Video AI không bao giờ bị nghẽn gián đoạn.</a:t>
            </a:r>
          </a:p>
          <a:p>
            <a:pPr>
              <a:spcAft>
                <a:spcPts val="200"/>
              </a:spcAft>
              <a:defRPr sz="1150" b="0">
                <a:solidFill>
                  <a:srgbClr val="334155"/>
                </a:solidFill>
                <a:latin typeface="Calibri"/>
              </a:defRPr>
            </a:pPr>
          </a:p>
          <a:p>
            <a:pPr>
              <a:spcAft>
                <a:spcPts val="200"/>
              </a:spcAft>
              <a:defRPr sz="1150" b="1">
                <a:solidFill>
                  <a:srgbClr val="0284C7"/>
                </a:solidFill>
                <a:latin typeface="Calibri"/>
              </a:defRPr>
            </a:pPr>
            <a:r>
              <a:t>3. Phân vùng Lưu trữ Tệp Bằng chứng (Snapshot Volume):</a:t>
            </a:r>
          </a:p>
          <a:p>
            <a:pPr>
              <a:spcAft>
                <a:spcPts val="200"/>
              </a:spcAft>
              <a:defRPr sz="1150" b="0">
                <a:solidFill>
                  <a:srgbClr val="334155"/>
                </a:solidFill>
                <a:latin typeface="Calibri"/>
              </a:defRPr>
            </a:pPr>
            <a:r>
              <a:t>• Tách biệt file ảnh JPEG ra khỏi CSDL: lưu tại /data/violations/YYYY-MM-DD/.</a:t>
            </a:r>
          </a:p>
          <a:p>
            <a:pPr>
              <a:spcAft>
                <a:spcPts val="200"/>
              </a:spcAft>
              <a:defRPr sz="1150" b="0">
                <a:solidFill>
                  <a:srgbClr val="334155"/>
                </a:solidFill>
                <a:latin typeface="Calibri"/>
              </a:defRPr>
            </a:pPr>
            <a:r>
              <a:t>• Giảm tải dung lượng database và tối ưu hóa I/O tải ảnh tức thì.</a:t>
            </a:r>
          </a:p>
        </p:txBody>
      </p:sp>
      <p:sp xmlns:a="http://schemas.openxmlformats.org/drawingml/2006/main">
        <p:nvSpPr>
          <p:cNvPr id="7" name="Rounded Rectangle 6"/>
          <p:cNvSpPr/>
          <p:nvPr/>
        </p:nvSpPr>
        <p:spPr>
          <a:xfrm>
            <a:off x="6217920" y="1463040"/>
            <a:ext cx="53949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Rounded Rectangle 7"/>
          <p:cNvSpPr/>
          <p:nvPr/>
        </p:nvSpPr>
        <p:spPr>
          <a:xfrm>
            <a:off x="6309360" y="1600200"/>
            <a:ext cx="5212080" cy="41148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PHÂN TẦNG KIẾN TRÚC 7 BẢNG DỮ LIỆU</a:t>
            </a:r>
          </a:p>
        </p:txBody>
      </p:sp>
      <p:sp xmlns:a="http://schemas.openxmlformats.org/drawingml/2006/main">
        <p:nvSpPr>
          <p:cNvPr id="9" name="TextBox 8"/>
          <p:cNvSpPr txBox="1"/>
          <p:nvPr/>
        </p:nvSpPr>
        <p:spPr>
          <a:xfrm>
            <a:off x="6355080" y="2103120"/>
            <a:ext cx="5120640" cy="4114800"/>
          </a:xfrm>
          <a:prstGeom prst="rect">
            <a:avLst/>
          </a:prstGeom>
          <a:noFill/>
        </p:spPr>
        <p:txBody>
          <a:bodyPr wrap="square">
            <a:spAutoFit/>
          </a:bodyPr>
          <a:lstStyle/>
          <a:p>
            <a:pPr>
              <a:spcAft>
                <a:spcPts val="200"/>
              </a:spcAft>
              <a:defRPr sz="1150" b="1">
                <a:solidFill>
                  <a:srgbClr val="1E3A8A"/>
                </a:solidFill>
                <a:latin typeface="Calibri"/>
              </a:defRPr>
            </a:pPr>
            <a:r>
              <a:t>Tầng 1: Quản trị &amp; Không gian (Master &amp; Spatial)</a:t>
            </a:r>
          </a:p>
          <a:p>
            <a:pPr>
              <a:spcAft>
                <a:spcPts val="200"/>
              </a:spcAft>
              <a:defRPr sz="1150" b="0">
                <a:solidFill>
                  <a:srgbClr val="334155"/>
                </a:solidFill>
                <a:latin typeface="Calibri"/>
              </a:defRPr>
            </a:pPr>
            <a:r>
              <a:t>• users: Tài khoản cán bộ an toàn, quản trị viên &amp; phân quyền RBAC.</a:t>
            </a:r>
          </a:p>
          <a:p>
            <a:pPr>
              <a:spcAft>
                <a:spcPts val="200"/>
              </a:spcAft>
              <a:defRPr sz="1150" b="0">
                <a:solidFill>
                  <a:srgbClr val="334155"/>
                </a:solidFill>
                <a:latin typeface="Calibri"/>
              </a:defRPr>
            </a:pPr>
            <a:r>
              <a:t>• locations: Khu vực, công trường &amp; phân xưởng giám sát.</a:t>
            </a:r>
          </a:p>
          <a:p>
            <a:pPr>
              <a:spcAft>
                <a:spcPts val="200"/>
              </a:spcAft>
              <a:defRPr sz="1150" b="0">
                <a:solidFill>
                  <a:srgbClr val="334155"/>
                </a:solidFill>
                <a:latin typeface="Calibri"/>
              </a:defRPr>
            </a:pPr>
            <a:r>
              <a:t>• cameras: Thiết bị camera IP, luồng RTSP &amp; thông số FPS/độ phân giải.</a:t>
            </a:r>
          </a:p>
          <a:p>
            <a:pPr>
              <a:spcAft>
                <a:spcPts val="200"/>
              </a:spcAft>
              <a:defRPr sz="1150" b="0">
                <a:solidFill>
                  <a:srgbClr val="334155"/>
                </a:solidFill>
                <a:latin typeface="Calibri"/>
              </a:defRPr>
            </a:pPr>
          </a:p>
          <a:p>
            <a:pPr>
              <a:spcAft>
                <a:spcPts val="200"/>
              </a:spcAft>
              <a:defRPr sz="1150" b="1">
                <a:solidFill>
                  <a:srgbClr val="DC2626"/>
                </a:solidFill>
                <a:latin typeface="Calibri"/>
              </a:defRPr>
            </a:pPr>
            <a:r>
              <a:t>Tầng 2: Cốt lõi AI &amp; Sự kiện Vi phạm (Core Transactional)</a:t>
            </a:r>
          </a:p>
          <a:p>
            <a:pPr>
              <a:spcAft>
                <a:spcPts val="200"/>
              </a:spcAft>
              <a:defRPr sz="1150" b="0">
                <a:solidFill>
                  <a:srgbClr val="334155"/>
                </a:solidFill>
                <a:latin typeface="Calibri"/>
              </a:defRPr>
            </a:pPr>
            <a:r>
              <a:t>• ppe_rules_config: Cấu hình quy chuẩn trang bị an toàn theo từng khu vực.</a:t>
            </a:r>
          </a:p>
          <a:p>
            <a:pPr>
              <a:spcAft>
                <a:spcPts val="200"/>
              </a:spcAft>
              <a:defRPr sz="1150" b="0">
                <a:solidFill>
                  <a:srgbClr val="334155"/>
                </a:solidFill>
                <a:latin typeface="Calibri"/>
              </a:defRPr>
            </a:pPr>
            <a:r>
              <a:t>• violations: Nhật ký sự kiện vi phạm an toàn, track_id, độ tin cậy &amp; ảnh chụp bằng chứng snapshot.</a:t>
            </a:r>
          </a:p>
          <a:p>
            <a:pPr>
              <a:spcAft>
                <a:spcPts val="200"/>
              </a:spcAft>
              <a:defRPr sz="1150" b="0">
                <a:solidFill>
                  <a:srgbClr val="334155"/>
                </a:solidFill>
                <a:latin typeface="Calibri"/>
              </a:defRPr>
            </a:pPr>
          </a:p>
          <a:p>
            <a:pPr>
              <a:spcAft>
                <a:spcPts val="200"/>
              </a:spcAft>
              <a:defRPr sz="1150" b="1">
                <a:solidFill>
                  <a:srgbClr val="7C3AED"/>
                </a:solidFill>
                <a:latin typeface="Calibri"/>
              </a:defRPr>
            </a:pPr>
            <a:r>
              <a:t>Tầng 3: Tích hợp Cảnh báo &amp; Kiểm toán (Integration &amp; Audit)</a:t>
            </a:r>
          </a:p>
          <a:p>
            <a:pPr>
              <a:spcAft>
                <a:spcPts val="200"/>
              </a:spcAft>
              <a:defRPr sz="1150" b="0">
                <a:solidFill>
                  <a:srgbClr val="334155"/>
                </a:solidFill>
                <a:latin typeface="Calibri"/>
              </a:defRPr>
            </a:pPr>
            <a:r>
              <a:t>• notification_settings: Cấu hình Telegram Bot, Webhook &amp; Cooldown.</a:t>
            </a:r>
          </a:p>
          <a:p>
            <a:pPr>
              <a:spcAft>
                <a:spcPts val="200"/>
              </a:spcAft>
              <a:defRPr sz="1150" b="0">
                <a:solidFill>
                  <a:srgbClr val="334155"/>
                </a:solidFill>
                <a:latin typeface="Calibri"/>
              </a:defRPr>
            </a:pPr>
            <a:r>
              <a:t>• audit_logs: Nhật ký kiểm toán thao tác hệ thống, xử lý sự cố &amp; xuất báo cáo.</a:t>
            </a:r>
          </a:p>
        </p:txBody>
      </p:sp>
    </p:spTree>
  </p:cSld>
</p:sld>
</file>

<file path=ppt/slides/slide7.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p:sp xmlns:a="http://schemas.openxmlformats.org/drawingml/2006/main">
        <p:nvSpPr>
          <p:cNvPr id="2" name="TextBox 1"/>
          <p:cNvSpPr txBox="1"/>
          <p:nvPr/>
        </p:nvSpPr>
        <p:spPr>
          <a:xfrm>
            <a:off x="548640" y="320040"/>
            <a:ext cx="11064240" cy="502920"/>
          </a:xfrm>
          <a:prstGeom prst="rect">
            <a:avLst/>
          </a:prstGeom>
          <a:noFill/>
        </p:spPr>
        <p:txBody>
          <a:bodyPr wrap="none">
            <a:spAutoFit/>
          </a:bodyPr>
          <a:lstStyle/>
          <a:p>
            <a:pPr>
              <a:defRPr sz="2600" b="1">
                <a:solidFill>
                  <a:srgbClr val="FFFFFF"/>
                </a:solidFill>
                <a:latin typeface="Trebuchet MS"/>
              </a:defRPr>
            </a:pPr>
            <a:r>
              <a:t>6. Sơ đồ Thực thể Quan hệ (Database ERD - 7 Bảng)</a:t>
            </a:r>
          </a:p>
        </p:txBody>
      </p:sp>
      <p:sp xmlns:a="http://schemas.openxmlformats.org/drawingml/2006/main">
        <p:nvSpPr>
          <p:cNvPr id="3" name="TextBox 2"/>
          <p:cNvSpPr txBox="1"/>
          <p:nvPr/>
        </p:nvSpPr>
        <p:spPr>
          <a:xfrm>
            <a:off x="548640" y="868680"/>
            <a:ext cx="11064240" cy="320040"/>
          </a:xfrm>
          <a:prstGeom prst="rect">
            <a:avLst/>
          </a:prstGeom>
          <a:noFill/>
        </p:spPr>
        <p:txBody>
          <a:bodyPr wrap="none">
            <a:spAutoFit/>
          </a:bodyPr>
          <a:lstStyle/>
          <a:p>
            <a:pPr>
              <a:defRPr sz="1300">
                <a:solidFill>
                  <a:srgbClr val="38BDF8"/>
                </a:solidFill>
                <a:latin typeface="Calibri"/>
              </a:defRPr>
            </a:pPr>
            <a:r>
              <a:t>Mô hình quan hệ thực thể toàn diện chuẩn PostgreSQL: Khóa chính (PK), Khóa ngoại (FK) &amp; Luồng tích hợp</a:t>
            </a:r>
          </a:p>
        </p:txBody>
      </p:sp>
      <p:pic xmlns:a="http://schemas.openxmlformats.org/drawingml/2006/main" xmlns:r="http://schemas.openxmlformats.org/officeDocument/2006/relationships">
        <p:nvPicPr>
          <p:cNvPr id="4" name="Picture 3" descr="database_erd_diagram.png"/>
          <p:cNvPicPr>
            <a:picLocks noChangeAspect="1"/>
          </p:cNvPicPr>
          <p:nvPr/>
        </p:nvPicPr>
        <p:blipFill>
          <a:blip r:embed="rId3"/>
          <a:stretch>
            <a:fillRect/>
          </a:stretch>
        </p:blipFill>
        <p:spPr>
          <a:xfrm>
            <a:off x="548640" y="1234440"/>
            <a:ext cx="11091672" cy="5257800"/>
          </a:xfrm>
          <a:prstGeom prst="rect">
            <a:avLst/>
          </a:prstGeom>
        </p:spPr>
      </p:pic>
    </p:spTree>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82" name="TextBox 1"/>
          <p:cNvSpPr txBox="1"/>
          <p:nvPr/>
        </p:nvSpPr>
        <p:spPr>
          <a:xfrm xmlns:a="http://schemas.openxmlformats.org/drawingml/2006/main">
            <a:off x="540000" y="324000"/>
            <a:ext cx="111132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3200" b="1">
                <a:solidFill>
                  <a:srgbClr val="0F172A"/>
                </a:solidFill>
                <a:latin typeface="Trebuchet MS"/>
                <a:ea typeface="Trebuchet MS"/>
              </a:rPr>
              <a:t>7. Định hướng Thiết kế Giao diện UI/UX</a:t>
            </a:r>
          </a:p>
        </p:txBody>
      </p:sp>
      <p:sp>
        <p:nvSpPr>
          <p:cNvPr id="100083" name="TextBox 2"/>
          <p:cNvSpPr txBox="1"/>
          <p:nvPr/>
        </p:nvSpPr>
        <p:spPr>
          <a:xfrm xmlns:a="http://schemas.openxmlformats.org/drawingml/2006/main">
            <a:off x="540000" y="900000"/>
            <a:ext cx="111132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64748B"/>
                </a:solidFill>
                <a:latin typeface="Calibri"/>
                <a:ea typeface="Calibri"/>
              </a:rPr>
              <a:t>Tối ưu hóa trải nghiệm trực quan cho cán bộ an toàn và người vận hành hệ thống</a:t>
            </a:r>
          </a:p>
        </p:txBody>
      </p:sp>
      <p:sp>
        <p:nvSpPr>
          <p:cNvPr id="100084" name="TextBox 3"/>
          <p:cNvSpPr/>
          <p:nvPr/>
        </p:nvSpPr>
        <p:spPr>
          <a:xfrm xmlns:a="http://schemas.openxmlformats.org/drawingml/2006/main">
            <a:off x="540000" y="1296000"/>
            <a:ext cx="2628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85" name="TextBox 4"/>
          <p:cNvSpPr/>
          <p:nvPr/>
        </p:nvSpPr>
        <p:spPr>
          <a:xfrm xmlns:a="http://schemas.openxmlformats.org/drawingml/2006/main">
            <a:off x="594000" y="1440000"/>
            <a:ext cx="2520000" cy="432000"/>
          </a:xfrm>
          <a:prstGeom xmlns:a="http://schemas.openxmlformats.org/drawingml/2006/main" prst="roundRect">
            <a:avLst/>
          </a:prstGeom>
          <a:solidFill xmlns:a="http://schemas.openxmlformats.org/drawingml/2006/main">
            <a:srgbClr val="0F172A"/>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300" b="1">
                <a:solidFill>
                  <a:srgbClr val="FFFFFF"/>
                </a:solidFill>
                <a:latin typeface="Calibri"/>
                <a:ea typeface="Calibri"/>
              </a:rPr>
              <a:t>DARK MODE CAO CẤP</a:t>
            </a:r>
          </a:p>
        </p:txBody>
      </p:sp>
      <p:sp>
        <p:nvSpPr>
          <p:cNvPr id="100086" name="TextBox 5"/>
          <p:cNvSpPr txBox="1"/>
          <p:nvPr/>
        </p:nvSpPr>
        <p:spPr>
          <a:xfrm xmlns:a="http://schemas.openxmlformats.org/drawingml/2006/main">
            <a:off x="612000" y="2016000"/>
            <a:ext cx="2484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34155"/>
                </a:solidFill>
                <a:latin typeface="Calibri"/>
                <a:ea typeface="Calibri"/>
              </a:rPr>
              <a:t>• Nền tối chuyên nghiệp giúp giảm mỏi mắt khi giám sát liên tục ca đêm.</a:t>
            </a:r>
          </a:p>
          <a:p xmlns:a="http://schemas.openxmlformats.org/drawingml/2006/main">
            <a:pPr algn="l"/>
            <a:r>
              <a:rPr lang="en-US" sz="1600" b="0">
                <a:solidFill>
                  <a:srgbClr val="334155"/>
                </a:solidFill>
                <a:latin typeface="Calibri"/>
                <a:ea typeface="Calibri"/>
              </a:rPr>
              <a:t/>
            </a:r>
          </a:p>
          <a:p xmlns:a="http://schemas.openxmlformats.org/drawingml/2006/main">
            <a:pPr algn="l"/>
            <a:r>
              <a:rPr lang="en-US" sz="1600" b="0">
                <a:solidFill>
                  <a:srgbClr val="334155"/>
                </a:solidFill>
                <a:latin typeface="Calibri"/>
                <a:ea typeface="Calibri"/>
              </a:rPr>
              <a:t>• Màu sắc tương phản cao: Xanh lá (An toàn) và Đỏ rực (Vi phạm).</a:t>
            </a:r>
          </a:p>
          <a:p xmlns:a="http://schemas.openxmlformats.org/drawingml/2006/main">
            <a:pPr algn="l"/>
            <a:r>
              <a:rPr lang="en-US" sz="1600" b="0">
                <a:solidFill>
                  <a:srgbClr val="334155"/>
                </a:solidFill>
                <a:latin typeface="Calibri"/>
                <a:ea typeface="Calibri"/>
              </a:rPr>
              <a:t/>
            </a:r>
          </a:p>
          <a:p xmlns:a="http://schemas.openxmlformats.org/drawingml/2006/main">
            <a:pPr algn="l"/>
            <a:r>
              <a:rPr lang="en-US" sz="1600" b="0">
                <a:solidFill>
                  <a:srgbClr val="334155"/>
                </a:solidFill>
                <a:latin typeface="Calibri"/>
                <a:ea typeface="Calibri"/>
              </a:rPr>
              <a:t>• Dễ dàng nhận biết sự cố chỉ trong 1 giây liếc nhìn.</a:t>
            </a:r>
          </a:p>
        </p:txBody>
      </p:sp>
      <p:sp>
        <p:nvSpPr>
          <p:cNvPr id="100087" name="TextBox 6"/>
          <p:cNvSpPr/>
          <p:nvPr/>
        </p:nvSpPr>
        <p:spPr>
          <a:xfrm xmlns:a="http://schemas.openxmlformats.org/drawingml/2006/main">
            <a:off x="3402000" y="1296000"/>
            <a:ext cx="2628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88" name="TextBox 7"/>
          <p:cNvSpPr/>
          <p:nvPr/>
        </p:nvSpPr>
        <p:spPr>
          <a:xfrm xmlns:a="http://schemas.openxmlformats.org/drawingml/2006/main">
            <a:off x="3456000" y="1440000"/>
            <a:ext cx="2520000" cy="432000"/>
          </a:xfrm>
          <a:prstGeom xmlns:a="http://schemas.openxmlformats.org/drawingml/2006/main" prst="roundRect">
            <a:avLst/>
          </a:prstGeom>
          <a:solidFill xmlns:a="http://schemas.openxmlformats.org/drawingml/2006/main">
            <a:srgbClr val="0284C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300" b="1">
                <a:solidFill>
                  <a:srgbClr val="FFFFFF"/>
                </a:solidFill>
                <a:latin typeface="Calibri"/>
                <a:ea typeface="Calibri"/>
              </a:rPr>
              <a:t>REAL-TIME SIÊU TỐC</a:t>
            </a:r>
          </a:p>
        </p:txBody>
      </p:sp>
      <p:sp>
        <p:nvSpPr>
          <p:cNvPr id="100089" name="TextBox 8"/>
          <p:cNvSpPr txBox="1"/>
          <p:nvPr/>
        </p:nvSpPr>
        <p:spPr>
          <a:xfrm xmlns:a="http://schemas.openxmlformats.org/drawingml/2006/main">
            <a:off x="3474000" y="2016000"/>
            <a:ext cx="2484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34155"/>
                </a:solidFill>
                <a:latin typeface="Calibri"/>
                <a:ea typeface="Calibri"/>
              </a:rPr>
              <a:t>• Luồng video WebSocket truyền tải mượt mà với độ trễ &lt; 15ms.</a:t>
            </a:r>
          </a:p>
          <a:p xmlns:a="http://schemas.openxmlformats.org/drawingml/2006/main">
            <a:pPr algn="l"/>
            <a:r>
              <a:rPr lang="en-US" sz="1600" b="0">
                <a:solidFill>
                  <a:srgbClr val="334155"/>
                </a:solidFill>
                <a:latin typeface="Calibri"/>
                <a:ea typeface="Calibri"/>
              </a:rPr>
              <a:t/>
            </a:r>
          </a:p>
          <a:p xmlns:a="http://schemas.openxmlformats.org/drawingml/2006/main">
            <a:pPr algn="l"/>
            <a:r>
              <a:rPr lang="en-US" sz="1600" b="0">
                <a:solidFill>
                  <a:srgbClr val="334155"/>
                </a:solidFill>
                <a:latin typeface="Calibri"/>
                <a:ea typeface="Calibri"/>
              </a:rPr>
              <a:t>• Checklist 5 trang bị PPE cập nhật trạng thái theo từng khung hình.</a:t>
            </a:r>
          </a:p>
          <a:p xmlns:a="http://schemas.openxmlformats.org/drawingml/2006/main">
            <a:pPr algn="l"/>
            <a:r>
              <a:rPr lang="en-US" sz="1600" b="0">
                <a:solidFill>
                  <a:srgbClr val="334155"/>
                </a:solidFill>
                <a:latin typeface="Calibri"/>
                <a:ea typeface="Calibri"/>
              </a:rPr>
              <a:t/>
            </a:r>
          </a:p>
          <a:p xmlns:a="http://schemas.openxmlformats.org/drawingml/2006/main">
            <a:pPr algn="l"/>
            <a:r>
              <a:rPr lang="en-US" sz="1600" b="0">
                <a:solidFill>
                  <a:srgbClr val="334155"/>
                </a:solidFill>
                <a:latin typeface="Calibri"/>
                <a:ea typeface="Calibri"/>
              </a:rPr>
              <a:t>• Đồng bộ tức thời dữ liệu thống kê không cần tải lại trang.</a:t>
            </a:r>
          </a:p>
        </p:txBody>
      </p:sp>
      <p:sp>
        <p:nvSpPr>
          <p:cNvPr id="100090" name="TextBox 9"/>
          <p:cNvSpPr/>
          <p:nvPr/>
        </p:nvSpPr>
        <p:spPr>
          <a:xfrm xmlns:a="http://schemas.openxmlformats.org/drawingml/2006/main">
            <a:off x="6264000" y="1296000"/>
            <a:ext cx="2628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91" name="TextBox 10"/>
          <p:cNvSpPr/>
          <p:nvPr/>
        </p:nvSpPr>
        <p:spPr>
          <a:xfrm xmlns:a="http://schemas.openxmlformats.org/drawingml/2006/main">
            <a:off x="6318000" y="1440000"/>
            <a:ext cx="2520000" cy="432000"/>
          </a:xfrm>
          <a:prstGeom xmlns:a="http://schemas.openxmlformats.org/drawingml/2006/main" prst="roundRect">
            <a:avLst/>
          </a:prstGeom>
          <a:solidFill xmlns:a="http://schemas.openxmlformats.org/drawingml/2006/main">
            <a:srgbClr val="05966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300" b="1">
                <a:solidFill>
                  <a:srgbClr val="FFFFFF"/>
                </a:solidFill>
                <a:latin typeface="Calibri"/>
                <a:ea typeface="Calibri"/>
              </a:rPr>
              <a:t>THAO TÁC 1-CLICK</a:t>
            </a:r>
          </a:p>
        </p:txBody>
      </p:sp>
      <p:sp>
        <p:nvSpPr>
          <p:cNvPr id="100092" name="TextBox 11"/>
          <p:cNvSpPr txBox="1"/>
          <p:nvPr/>
        </p:nvSpPr>
        <p:spPr>
          <a:xfrm xmlns:a="http://schemas.openxmlformats.org/drawingml/2006/main">
            <a:off x="6336000" y="2016000"/>
            <a:ext cx="2484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34155"/>
                </a:solidFill>
                <a:latin typeface="Calibri"/>
                <a:ea typeface="Calibri"/>
              </a:rPr>
              <a:t>• Chuyển đổi nguồn camera (Webcam/RTSP/Mock) chỉ bằng 1 thao tác.</a:t>
            </a:r>
          </a:p>
          <a:p xmlns:a="http://schemas.openxmlformats.org/drawingml/2006/main">
            <a:pPr algn="l"/>
            <a:r>
              <a:rPr lang="en-US" sz="1600" b="0">
                <a:solidFill>
                  <a:srgbClr val="334155"/>
                </a:solidFill>
                <a:latin typeface="Calibri"/>
                <a:ea typeface="Calibri"/>
              </a:rPr>
              <a:t/>
            </a:r>
          </a:p>
          <a:p xmlns:a="http://schemas.openxmlformats.org/drawingml/2006/main">
            <a:pPr algn="l"/>
            <a:r>
              <a:rPr lang="en-US" sz="1600" b="0">
                <a:solidFill>
                  <a:srgbClr val="334155"/>
                </a:solidFill>
                <a:latin typeface="Calibri"/>
                <a:ea typeface="Calibri"/>
              </a:rPr>
              <a:t>• Xem ảnh bằng chứng Snapshot dạng Popup phóng to trực tiếp.</a:t>
            </a:r>
          </a:p>
          <a:p xmlns:a="http://schemas.openxmlformats.org/drawingml/2006/main">
            <a:pPr algn="l"/>
            <a:r>
              <a:rPr lang="en-US" sz="1600" b="0">
                <a:solidFill>
                  <a:srgbClr val="334155"/>
                </a:solidFill>
                <a:latin typeface="Calibri"/>
                <a:ea typeface="Calibri"/>
              </a:rPr>
              <a:t/>
            </a:r>
          </a:p>
          <a:p xmlns:a="http://schemas.openxmlformats.org/drawingml/2006/main">
            <a:pPr algn="l"/>
            <a:r>
              <a:rPr lang="en-US" sz="1600" b="0">
                <a:solidFill>
                  <a:srgbClr val="334155"/>
                </a:solidFill>
                <a:latin typeface="Calibri"/>
                <a:ea typeface="Calibri"/>
              </a:rPr>
              <a:t>• Xuất báo cáo Excel tùy chọn theo từng khoảng thời gian nhanh chóng.</a:t>
            </a:r>
          </a:p>
        </p:txBody>
      </p:sp>
      <p:sp>
        <p:nvSpPr>
          <p:cNvPr id="100093" name="TextBox 12"/>
          <p:cNvSpPr/>
          <p:nvPr/>
        </p:nvSpPr>
        <p:spPr>
          <a:xfrm xmlns:a="http://schemas.openxmlformats.org/drawingml/2006/main">
            <a:off x="9126000" y="1296000"/>
            <a:ext cx="2628000" cy="5112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094" name="TextBox 13"/>
          <p:cNvSpPr/>
          <p:nvPr/>
        </p:nvSpPr>
        <p:spPr>
          <a:xfrm xmlns:a="http://schemas.openxmlformats.org/drawingml/2006/main">
            <a:off x="9180000" y="1440000"/>
            <a:ext cx="2520000" cy="432000"/>
          </a:xfrm>
          <a:prstGeom xmlns:a="http://schemas.openxmlformats.org/drawingml/2006/main" prst="roundRect">
            <a:avLst/>
          </a:prstGeom>
          <a:solidFill xmlns:a="http://schemas.openxmlformats.org/drawingml/2006/main">
            <a:srgbClr val="DC262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300" b="1">
                <a:solidFill>
                  <a:srgbClr val="FFFFFF"/>
                </a:solidFill>
                <a:latin typeface="Calibri"/>
                <a:ea typeface="Calibri"/>
              </a:rPr>
              <a:t>CẢNH BÁO ĐA GIÁC QUAN</a:t>
            </a:r>
          </a:p>
        </p:txBody>
      </p:sp>
      <p:sp>
        <p:nvSpPr>
          <p:cNvPr id="100095" name="TextBox 14"/>
          <p:cNvSpPr txBox="1"/>
          <p:nvPr/>
        </p:nvSpPr>
        <p:spPr>
          <a:xfrm xmlns:a="http://schemas.openxmlformats.org/drawingml/2006/main">
            <a:off x="9198000" y="2016000"/>
            <a:ext cx="2484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34155"/>
                </a:solidFill>
                <a:latin typeface="Calibri"/>
                <a:ea typeface="Calibri"/>
              </a:rPr>
              <a:t>• Cảnh báo thị giác: Viền video và thẻ trạng thái nhấp nháy đỏ khi vi phạm.</a:t>
            </a:r>
          </a:p>
          <a:p xmlns:a="http://schemas.openxmlformats.org/drawingml/2006/main">
            <a:pPr algn="l"/>
            <a:r>
              <a:rPr lang="en-US" sz="1600" b="0">
                <a:solidFill>
                  <a:srgbClr val="334155"/>
                </a:solidFill>
                <a:latin typeface="Calibri"/>
                <a:ea typeface="Calibri"/>
              </a:rPr>
              <a:t/>
            </a:r>
          </a:p>
          <a:p xmlns:a="http://schemas.openxmlformats.org/drawingml/2006/main">
            <a:pPr algn="l"/>
            <a:r>
              <a:rPr lang="en-US" sz="1600" b="0">
                <a:solidFill>
                  <a:srgbClr val="334155"/>
                </a:solidFill>
                <a:latin typeface="Calibri"/>
                <a:ea typeface="Calibri"/>
              </a:rPr>
              <a:t>• Cảnh báo âm thanh: Tích hợp âm thanh buzzer tùy chỉnh bật/tắt.</a:t>
            </a:r>
          </a:p>
          <a:p xmlns:a="http://schemas.openxmlformats.org/drawingml/2006/main">
            <a:pPr algn="l"/>
            <a:r>
              <a:rPr lang="en-US" sz="1600" b="0">
                <a:solidFill>
                  <a:srgbClr val="334155"/>
                </a:solidFill>
                <a:latin typeface="Calibri"/>
                <a:ea typeface="Calibri"/>
              </a:rPr>
              <a:t/>
            </a:r>
          </a:p>
          <a:p xmlns:a="http://schemas.openxmlformats.org/drawingml/2006/main">
            <a:pPr algn="l"/>
            <a:r>
              <a:rPr lang="en-US" sz="1600" b="0">
                <a:solidFill>
                  <a:srgbClr val="334155"/>
                </a:solidFill>
                <a:latin typeface="Calibri"/>
                <a:ea typeface="Calibri"/>
              </a:rPr>
              <a:t>• Tự động gửi tin nhắn Telegram kèm hình ảnh snapshot thực tế.</a:t>
            </a:r>
          </a:p>
        </p:txBody>
      </p:sp>
    </p:spTree>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p:sp>
        <p:nvSpPr>
          <p:cNvPr id="100096" name="TextBox 1"/>
          <p:cNvSpPr txBox="1"/>
          <p:nvPr/>
        </p:nvSpPr>
        <p:spPr>
          <a:xfrm xmlns:a="http://schemas.openxmlformats.org/drawingml/2006/main">
            <a:off x="540000" y="324000"/>
            <a:ext cx="111132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3200" b="1">
                <a:solidFill>
                  <a:srgbClr val="0F172A"/>
                </a:solidFill>
                <a:latin typeface="Trebuchet MS"/>
                <a:ea typeface="Trebuchet MS"/>
              </a:rPr>
              <a:t>8. Hiện trạng Xây dựng Giao diện Hệ thống</a:t>
            </a:r>
          </a:p>
        </p:txBody>
      </p:sp>
      <p:sp>
        <p:nvSpPr>
          <p:cNvPr id="100097" name="TextBox 2"/>
          <p:cNvSpPr txBox="1"/>
          <p:nvPr/>
        </p:nvSpPr>
        <p:spPr>
          <a:xfrm xmlns:a="http://schemas.openxmlformats.org/drawingml/2006/main">
            <a:off x="540000" y="900000"/>
            <a:ext cx="111132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64748B"/>
                </a:solidFill>
                <a:latin typeface="Calibri"/>
                <a:ea typeface="Calibri"/>
              </a:rPr>
              <a:t>Các màn hình chức năng đã hoàn thiện và vận hành thực tế trên nền tảng React + Vite</a:t>
            </a:r>
          </a:p>
        </p:txBody>
      </p:sp>
      <p:pic>
        <p:nvPicPr>
          <p:cNvPr id="100098" name="Picture 1" descr="Giao diện Dashboard giám sát an toàn lao động thực tế"/>
          <p:cNvPicPr>
            <a:picLocks xmlns:a="http://schemas.openxmlformats.org/drawingml/2006/main" noChangeAspect="1"/>
          </p:cNvPicPr>
          <p:nvPr/>
        </p:nvPicPr>
        <p:blipFill>
          <a:blip xmlns:r="http://schemas.openxmlformats.org/officeDocument/2006/relationships" xmlns:a="http://schemas.openxmlformats.org/drawingml/2006/main" r:embed="R13c2b542222b4d2e"/>
          <a:stretch xmlns:a="http://schemas.openxmlformats.org/drawingml/2006/main">
            <a:fillRect/>
          </a:stretch>
        </p:blipFill>
        <p:spPr>
          <a:xfrm xmlns:a="http://schemas.openxmlformats.org/drawingml/2006/main">
            <a:off x="540000" y="1296000"/>
            <a:ext cx="6552000" cy="5112000"/>
          </a:xfrm>
          <a:prstGeom xmlns:a="http://schemas.openxmlformats.org/drawingml/2006/main" prst="rect">
            <a:avLst/>
          </a:prstGeom>
        </p:spPr>
      </p:pic>
      <p:sp>
        <p:nvSpPr>
          <p:cNvPr id="100099" name="TextBox 3"/>
          <p:cNvSpPr/>
          <p:nvPr/>
        </p:nvSpPr>
        <p:spPr>
          <a:xfrm xmlns:a="http://schemas.openxmlformats.org/drawingml/2006/main">
            <a:off x="7272000" y="1296000"/>
            <a:ext cx="4381200" cy="2448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100" name="TextBox 4"/>
          <p:cNvSpPr/>
          <p:nvPr/>
        </p:nvSpPr>
        <p:spPr>
          <a:xfrm xmlns:a="http://schemas.openxmlformats.org/drawingml/2006/main">
            <a:off x="7344000" y="1440000"/>
            <a:ext cx="4237200" cy="396000"/>
          </a:xfrm>
          <a:prstGeom xmlns:a="http://schemas.openxmlformats.org/drawingml/2006/main" prst="roundRect">
            <a:avLst/>
          </a:prstGeom>
          <a:solidFill xmlns:a="http://schemas.openxmlformats.org/drawingml/2006/main">
            <a:srgbClr val="0F172A"/>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400" b="1">
                <a:solidFill>
                  <a:srgbClr val="FFFFFF"/>
                </a:solidFill>
                <a:latin typeface="Calibri"/>
                <a:ea typeface="Calibri"/>
              </a:rPr>
              <a:t>TRUNG TÂM GIÁM SÁT THỜI GIAN THỰC</a:t>
            </a:r>
          </a:p>
        </p:txBody>
      </p:sp>
      <p:sp>
        <p:nvSpPr>
          <p:cNvPr id="100101" name="TextBox 5"/>
          <p:cNvSpPr txBox="1"/>
          <p:nvPr/>
        </p:nvSpPr>
        <p:spPr>
          <a:xfrm xmlns:a="http://schemas.openxmlformats.org/drawingml/2006/main">
            <a:off x="7380000" y="1908000"/>
            <a:ext cx="4140000" cy="17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34155"/>
                </a:solidFill>
                <a:latin typeface="Calibri"/>
                <a:ea typeface="Calibri"/>
              </a:rPr>
              <a:t>• Màn hình Live Stream video hiển thị nhãn Bounding Box AI sắc nét.</a:t>
            </a:r>
          </a:p>
          <a:p xmlns:a="http://schemas.openxmlformats.org/drawingml/2006/main">
            <a:pPr algn="l"/>
            <a:r>
              <a:rPr lang="en-US" sz="1600" b="0">
                <a:solidFill>
                  <a:srgbClr val="334155"/>
                </a:solidFill>
                <a:latin typeface="Calibri"/>
                <a:ea typeface="Calibri"/>
              </a:rPr>
              <a:t>• Bảng checklist 5 trang bị an toàn nhận diện theo thời gian thực.</a:t>
            </a:r>
          </a:p>
          <a:p xmlns:a="http://schemas.openxmlformats.org/drawingml/2006/main">
            <a:pPr algn="l"/>
            <a:r>
              <a:rPr lang="en-US" sz="1600" b="0">
                <a:solidFill>
                  <a:srgbClr val="334155"/>
                </a:solidFill>
                <a:latin typeface="Calibri"/>
                <a:ea typeface="Calibri"/>
              </a:rPr>
              <a:t>• Thống kê KPI: Tỷ lệ tuân thủ %, số vi phạm trong ngày và FPS.</a:t>
            </a:r>
          </a:p>
        </p:txBody>
      </p:sp>
      <p:sp>
        <p:nvSpPr>
          <p:cNvPr id="100102" name="TextBox 6"/>
          <p:cNvSpPr/>
          <p:nvPr/>
        </p:nvSpPr>
        <p:spPr>
          <a:xfrm xmlns:a="http://schemas.openxmlformats.org/drawingml/2006/main">
            <a:off x="7272000" y="3960000"/>
            <a:ext cx="4381200" cy="24480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2E8F0"/>
            </a:solidFill>
          </a:ln>
        </p:spPr>
        <p:txBody>
          <a:bodyPr xmlns:a="http://schemas.openxmlformats.org/drawingml/2006/main"/>
          <a:lstStyle xmlns:a="http://schemas.openxmlformats.org/drawingml/2006/main"/>
          <a:p xmlns:a="http://schemas.openxmlformats.org/drawingml/2006/main"/>
        </p:txBody>
      </p:sp>
      <p:sp>
        <p:nvSpPr>
          <p:cNvPr id="100103" name="TextBox 7"/>
          <p:cNvSpPr/>
          <p:nvPr/>
        </p:nvSpPr>
        <p:spPr>
          <a:xfrm xmlns:a="http://schemas.openxmlformats.org/drawingml/2006/main">
            <a:off x="7344000" y="4104000"/>
            <a:ext cx="4237200" cy="396000"/>
          </a:xfrm>
          <a:prstGeom xmlns:a="http://schemas.openxmlformats.org/drawingml/2006/main" prst="roundRect">
            <a:avLst/>
          </a:prstGeom>
          <a:solidFill xmlns:a="http://schemas.openxmlformats.org/drawingml/2006/main">
            <a:srgbClr val="0284C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400" b="1">
                <a:solidFill>
                  <a:srgbClr val="FFFFFF"/>
                </a:solidFill>
                <a:latin typeface="Calibri"/>
                <a:ea typeface="Calibri"/>
              </a:rPr>
              <a:t>QUẢN LÝ NHẬT KÝ &amp; XUẤT BÁO CÁO</a:t>
            </a:r>
          </a:p>
        </p:txBody>
      </p:sp>
      <p:sp>
        <p:nvSpPr>
          <p:cNvPr id="100104" name="TextBox 8"/>
          <p:cNvSpPr txBox="1"/>
          <p:nvPr/>
        </p:nvSpPr>
        <p:spPr>
          <a:xfrm xmlns:a="http://schemas.openxmlformats.org/drawingml/2006/main">
            <a:off x="7380000" y="4572000"/>
            <a:ext cx="4140000" cy="17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34155"/>
                </a:solidFill>
                <a:latin typeface="Calibri"/>
                <a:ea typeface="Calibri"/>
              </a:rPr>
              <a:t>• Nhật ký vi phạm thời gian thực kèm xem ảnh Snapshot phóng to.</a:t>
            </a:r>
          </a:p>
          <a:p xmlns:a="http://schemas.openxmlformats.org/drawingml/2006/main">
            <a:pPr algn="l"/>
            <a:r>
              <a:rPr lang="en-US" sz="1600" b="0">
                <a:solidFill>
                  <a:srgbClr val="334155"/>
                </a:solidFill>
                <a:latin typeface="Calibri"/>
                <a:ea typeface="Calibri"/>
              </a:rPr>
              <a:t>• Cửa sổ cấu hình Bot Telegram, Webhook và quy tắc an toàn.</a:t>
            </a:r>
          </a:p>
          <a:p xmlns:a="http://schemas.openxmlformats.org/drawingml/2006/main">
            <a:pPr algn="l"/>
            <a:r>
              <a:rPr lang="en-US" sz="1600" b="0">
                <a:solidFill>
                  <a:srgbClr val="334155"/>
                </a:solidFill>
                <a:latin typeface="Calibri"/>
                <a:ea typeface="Calibri"/>
              </a:rPr>
              <a:t>• Công cụ trích xuất báo cáo Excel 3 sheet chuyên nghiệp theo kỳ.</a:t>
            </a:r>
          </a:p>
        </p:txBody>
      </p:sp>
    </p:spTree>
  </p:cSld>
</p:sld>
</file>

<file path=ppt/slides/slide1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p:sp>
        <p:nvSpPr>
          <p:cNvPr id="100105" name="TextBox 1"/>
          <p:cNvSpPr txBox="1"/>
          <p:nvPr/>
        </p:nvSpPr>
        <p:spPr>
          <a:xfrm xmlns:a="http://schemas.openxmlformats.org/drawingml/2006/main">
            <a:off x="540000" y="324000"/>
            <a:ext cx="111132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3200" b="1">
                <a:solidFill>
                  <a:srgbClr val="FFFFFF"/>
                </a:solidFill>
                <a:latin typeface="Trebuchet MS"/>
                <a:ea typeface="Trebuchet MS"/>
              </a:rPr>
              <a:t>9. Đánh giá Tiến độ &amp; Kế hoạch Tiếp theo</a:t>
            </a:r>
          </a:p>
        </p:txBody>
      </p:sp>
      <p:sp>
        <p:nvSpPr>
          <p:cNvPr id="100106" name="TextBox 2"/>
          <p:cNvSpPr txBox="1"/>
          <p:nvPr/>
        </p:nvSpPr>
        <p:spPr>
          <a:xfrm xmlns:a="http://schemas.openxmlformats.org/drawingml/2006/main">
            <a:off x="540000" y="900000"/>
            <a:ext cx="111132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600" b="0">
                <a:solidFill>
                  <a:srgbClr val="38BDF8"/>
                </a:solidFill>
                <a:latin typeface="Calibri"/>
                <a:ea typeface="Calibri"/>
              </a:rPr>
              <a:t>Tổng kết kết quả giai đoạn báo cáo và lộ trình hoàn thiện đề tài</a:t>
            </a:r>
          </a:p>
        </p:txBody>
      </p:sp>
      <p:sp>
        <p:nvSpPr>
          <p:cNvPr id="100107" name="TextBox 3"/>
          <p:cNvSpPr/>
          <p:nvPr/>
        </p:nvSpPr>
        <p:spPr>
          <a:xfrm xmlns:a="http://schemas.openxmlformats.org/drawingml/2006/main">
            <a:off x="540000" y="1296000"/>
            <a:ext cx="5400000" cy="5112000"/>
          </a:xfrm>
          <a:prstGeom xmlns:a="http://schemas.openxmlformats.org/drawingml/2006/main" prst="roundRect">
            <a:avLst/>
          </a:prstGeom>
          <a:solidFill xmlns:a="http://schemas.openxmlformats.org/drawingml/2006/main">
            <a:srgbClr val="1E293B"/>
          </a:solidFill>
          <a:ln xmlns:a="http://schemas.openxmlformats.org/drawingml/2006/main" w="19050">
            <a:solidFill>
              <a:srgbClr val="059669"/>
            </a:solidFill>
          </a:ln>
        </p:spPr>
        <p:txBody>
          <a:bodyPr xmlns:a="http://schemas.openxmlformats.org/drawingml/2006/main"/>
          <a:lstStyle xmlns:a="http://schemas.openxmlformats.org/drawingml/2006/main"/>
          <a:p xmlns:a="http://schemas.openxmlformats.org/drawingml/2006/main"/>
        </p:txBody>
      </p:sp>
      <p:sp>
        <p:nvSpPr>
          <p:cNvPr id="100108" name="TextBox 4"/>
          <p:cNvSpPr/>
          <p:nvPr/>
        </p:nvSpPr>
        <p:spPr>
          <a:xfrm xmlns:a="http://schemas.openxmlformats.org/drawingml/2006/main">
            <a:off x="648000" y="1440000"/>
            <a:ext cx="5184000" cy="432000"/>
          </a:xfrm>
          <a:prstGeom xmlns:a="http://schemas.openxmlformats.org/drawingml/2006/main" prst="roundRect">
            <a:avLst/>
          </a:prstGeom>
          <a:solidFill xmlns:a="http://schemas.openxmlformats.org/drawingml/2006/main">
            <a:srgbClr val="05966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1">
                <a:solidFill>
                  <a:srgbClr val="FFFFFF"/>
                </a:solidFill>
                <a:latin typeface="Calibri"/>
                <a:ea typeface="Calibri"/>
              </a:rPr>
              <a:t>HẠNG MỤC ĐÃ ĐẠT ĐƯỢC</a:t>
            </a:r>
          </a:p>
        </p:txBody>
      </p:sp>
      <p:sp>
        <p:nvSpPr>
          <p:cNvPr id="100109" name="TextBox 5"/>
          <p:cNvSpPr txBox="1"/>
          <p:nvPr/>
        </p:nvSpPr>
        <p:spPr>
          <a:xfrm xmlns:a="http://schemas.openxmlformats.org/drawingml/2006/main">
            <a:off x="684000" y="2016000"/>
            <a:ext cx="5112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FFFFFF"/>
                </a:solidFill>
                <a:latin typeface="Calibri"/>
                <a:ea typeface="Calibri"/>
              </a:rPr>
              <a:t>✓ Đã vạch ra và phân tích toàn diện các chức năng hệ thống.</a:t>
            </a:r>
          </a:p>
          <a:p xmlns:a="http://schemas.openxmlformats.org/drawingml/2006/main">
            <a:pPr algn="l"/>
            <a:r>
              <a:rPr lang="en-US" sz="1700" b="0">
                <a:solidFill>
                  <a:srgbClr val="FFFFFF"/>
                </a:solidFill>
                <a:latin typeface="Calibri"/>
                <a:ea typeface="Calibri"/>
              </a:rPr>
              <a:t/>
            </a:r>
          </a:p>
          <a:p xmlns:a="http://schemas.openxmlformats.org/drawingml/2006/main">
            <a:pPr algn="l"/>
            <a:r>
              <a:rPr lang="en-US" sz="1700" b="0">
                <a:solidFill>
                  <a:srgbClr val="FFFFFF"/>
                </a:solidFill>
                <a:latin typeface="Calibri"/>
                <a:ea typeface="Calibri"/>
              </a:rPr>
              <a:t>✓ Đã thiết kế hoàn thiện CSDL PostgreSQL 15 &amp; Module lưu Snapshot.</a:t>
            </a:r>
          </a:p>
          <a:p xmlns:a="http://schemas.openxmlformats.org/drawingml/2006/main">
            <a:pPr algn="l"/>
            <a:r>
              <a:rPr lang="en-US" sz="1700" b="0">
                <a:solidFill>
                  <a:srgbClr val="FFFFFF"/>
                </a:solidFill>
                <a:latin typeface="Calibri"/>
                <a:ea typeface="Calibri"/>
              </a:rPr>
              <a:t/>
            </a:r>
          </a:p>
          <a:p xmlns:a="http://schemas.openxmlformats.org/drawingml/2006/main">
            <a:pPr algn="l"/>
            <a:r>
              <a:rPr lang="en-US" sz="1700" b="0">
                <a:solidFill>
                  <a:srgbClr val="FFFFFF"/>
                </a:solidFill>
                <a:latin typeface="Calibri"/>
                <a:ea typeface="Calibri"/>
              </a:rPr>
              <a:t>✓ Đã xây dựng hoàn chỉnh Dashboard React thời gian thực (&lt; 15ms).</a:t>
            </a:r>
          </a:p>
          <a:p xmlns:a="http://schemas.openxmlformats.org/drawingml/2006/main">
            <a:pPr algn="l"/>
            <a:r>
              <a:rPr lang="en-US" sz="1700" b="0">
                <a:solidFill>
                  <a:srgbClr val="FFFFFF"/>
                </a:solidFill>
                <a:latin typeface="Calibri"/>
                <a:ea typeface="Calibri"/>
              </a:rPr>
              <a:t/>
            </a:r>
          </a:p>
          <a:p xmlns:a="http://schemas.openxmlformats.org/drawingml/2006/main">
            <a:pPr algn="l"/>
            <a:r>
              <a:rPr lang="en-US" sz="1700" b="0">
                <a:solidFill>
                  <a:srgbClr val="FFFFFF"/>
                </a:solidFill>
                <a:latin typeface="Calibri"/>
                <a:ea typeface="Calibri"/>
              </a:rPr>
              <a:t>✓ Huấn luyện mô hình YOLO11s đạt mAP50 &gt; 95% trên các PPE cốt lõi.</a:t>
            </a:r>
          </a:p>
          <a:p xmlns:a="http://schemas.openxmlformats.org/drawingml/2006/main">
            <a:pPr algn="l"/>
            <a:r>
              <a:rPr lang="en-US" sz="1700" b="0">
                <a:solidFill>
                  <a:srgbClr val="FFFFFF"/>
                </a:solidFill>
                <a:latin typeface="Calibri"/>
                <a:ea typeface="Calibri"/>
              </a:rPr>
              <a:t/>
            </a:r>
          </a:p>
          <a:p xmlns:a="http://schemas.openxmlformats.org/drawingml/2006/main">
            <a:pPr algn="l"/>
            <a:r>
              <a:rPr lang="en-US" sz="1700" b="0">
                <a:solidFill>
                  <a:srgbClr val="FFFFFF"/>
                </a:solidFill>
                <a:latin typeface="Calibri"/>
                <a:ea typeface="Calibri"/>
              </a:rPr>
              <a:t>✓ Tích hợp thành công thông báo Telegram Bot &amp; xuất báo cáo Excel.</a:t>
            </a:r>
          </a:p>
        </p:txBody>
      </p:sp>
      <p:sp>
        <p:nvSpPr>
          <p:cNvPr id="100110" name="TextBox 6"/>
          <p:cNvSpPr/>
          <p:nvPr/>
        </p:nvSpPr>
        <p:spPr>
          <a:xfrm xmlns:a="http://schemas.openxmlformats.org/drawingml/2006/main">
            <a:off x="6253200" y="1296000"/>
            <a:ext cx="5400000" cy="5112000"/>
          </a:xfrm>
          <a:prstGeom xmlns:a="http://schemas.openxmlformats.org/drawingml/2006/main" prst="roundRect">
            <a:avLst/>
          </a:prstGeom>
          <a:solidFill xmlns:a="http://schemas.openxmlformats.org/drawingml/2006/main">
            <a:srgbClr val="1E293B"/>
          </a:solidFill>
          <a:ln xmlns:a="http://schemas.openxmlformats.org/drawingml/2006/main" w="19050">
            <a:solidFill>
              <a:srgbClr val="0284C7"/>
            </a:solidFill>
          </a:ln>
        </p:spPr>
        <p:txBody>
          <a:bodyPr xmlns:a="http://schemas.openxmlformats.org/drawingml/2006/main"/>
          <a:lstStyle xmlns:a="http://schemas.openxmlformats.org/drawingml/2006/main"/>
          <a:p xmlns:a="http://schemas.openxmlformats.org/drawingml/2006/main"/>
        </p:txBody>
      </p:sp>
      <p:sp>
        <p:nvSpPr>
          <p:cNvPr id="100111" name="TextBox 7"/>
          <p:cNvSpPr/>
          <p:nvPr/>
        </p:nvSpPr>
        <p:spPr>
          <a:xfrm xmlns:a="http://schemas.openxmlformats.org/drawingml/2006/main">
            <a:off x="6361200" y="1440000"/>
            <a:ext cx="5184000" cy="432000"/>
          </a:xfrm>
          <a:prstGeom xmlns:a="http://schemas.openxmlformats.org/drawingml/2006/main" prst="roundRect">
            <a:avLst/>
          </a:prstGeom>
          <a:solidFill xmlns:a="http://schemas.openxmlformats.org/drawingml/2006/main">
            <a:srgbClr val="0284C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1">
                <a:solidFill>
                  <a:srgbClr val="FFFFFF"/>
                </a:solidFill>
                <a:latin typeface="Calibri"/>
                <a:ea typeface="Calibri"/>
              </a:rPr>
              <a:t>KẾ HOẠCH GIAI ĐOẠN TIẾP THEO</a:t>
            </a:r>
          </a:p>
        </p:txBody>
      </p:sp>
      <p:sp>
        <p:nvSpPr>
          <p:cNvPr id="100112" name="TextBox 8"/>
          <p:cNvSpPr txBox="1"/>
          <p:nvPr/>
        </p:nvSpPr>
        <p:spPr>
          <a:xfrm xmlns:a="http://schemas.openxmlformats.org/drawingml/2006/main">
            <a:off x="6397200" y="2016000"/>
            <a:ext cx="5112000" cy="41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gn="l"/>
            <a:r>
              <a:rPr lang="en-US" sz="1700" b="0">
                <a:solidFill>
                  <a:srgbClr val="FFFFFF"/>
                </a:solidFill>
                <a:latin typeface="Calibri"/>
                <a:ea typeface="Calibri"/>
              </a:rPr>
              <a:t>→ Mở rộng Backend API hỗ trợ kết nối đa luồng Camera RTSP.</a:t>
            </a:r>
          </a:p>
          <a:p xmlns:a="http://schemas.openxmlformats.org/drawingml/2006/main">
            <a:pPr algn="l"/>
            <a:r>
              <a:rPr lang="en-US" sz="1700" b="0">
                <a:solidFill>
                  <a:srgbClr val="FFFFFF"/>
                </a:solidFill>
                <a:latin typeface="Calibri"/>
                <a:ea typeface="Calibri"/>
              </a:rPr>
              <a:t/>
            </a:r>
          </a:p>
          <a:p xmlns:a="http://schemas.openxmlformats.org/drawingml/2006/main">
            <a:pPr algn="l"/>
            <a:r>
              <a:rPr lang="en-US" sz="1700" b="0">
                <a:solidFill>
                  <a:srgbClr val="FFFFFF"/>
                </a:solidFill>
                <a:latin typeface="Calibri"/>
                <a:ea typeface="Calibri"/>
              </a:rPr>
              <a:t>→ Tinh chỉnh và bổ sung dữ liệu huấn luyện cho lớp vật thể nhỏ (kính, găng).</a:t>
            </a:r>
          </a:p>
          <a:p xmlns:a="http://schemas.openxmlformats.org/drawingml/2006/main">
            <a:pPr algn="l"/>
            <a:r>
              <a:rPr lang="en-US" sz="1700" b="0">
                <a:solidFill>
                  <a:srgbClr val="FFFFFF"/>
                </a:solidFill>
                <a:latin typeface="Calibri"/>
                <a:ea typeface="Calibri"/>
              </a:rPr>
              <a:t/>
            </a:r>
          </a:p>
          <a:p xmlns:a="http://schemas.openxmlformats.org/drawingml/2006/main">
            <a:pPr algn="l"/>
            <a:r>
              <a:rPr lang="en-US" sz="1700" b="0">
                <a:solidFill>
                  <a:srgbClr val="FFFFFF"/>
                </a:solidFill>
                <a:latin typeface="Calibri"/>
                <a:ea typeface="Calibri"/>
              </a:rPr>
              <a:t>→ Tiến hành kiểm thử chịu tải và thử nghiệm thực địa tại công trường.</a:t>
            </a:r>
          </a:p>
          <a:p xmlns:a="http://schemas.openxmlformats.org/drawingml/2006/main">
            <a:pPr algn="l"/>
            <a:r>
              <a:rPr lang="en-US" sz="1700" b="0">
                <a:solidFill>
                  <a:srgbClr val="FFFFFF"/>
                </a:solidFill>
                <a:latin typeface="Calibri"/>
                <a:ea typeface="Calibri"/>
              </a:rPr>
              <a:t/>
            </a:r>
          </a:p>
          <a:p xmlns:a="http://schemas.openxmlformats.org/drawingml/2006/main">
            <a:pPr algn="l"/>
            <a:r>
              <a:rPr lang="en-US" sz="1700" b="0">
                <a:solidFill>
                  <a:srgbClr val="FFFFFF"/>
                </a:solidFill>
                <a:latin typeface="Calibri"/>
                <a:ea typeface="Calibri"/>
              </a:rPr>
              <a:t>→ Đóng gói hoàn chỉnh Docker Compose và triển khai trên Edge Server.</a:t>
            </a:r>
          </a:p>
          <a:p xmlns:a="http://schemas.openxmlformats.org/drawingml/2006/main">
            <a:pPr algn="l"/>
            <a:r>
              <a:rPr lang="en-US" sz="1700" b="0">
                <a:solidFill>
                  <a:srgbClr val="FFFFFF"/>
                </a:solidFill>
                <a:latin typeface="Calibri"/>
                <a:ea typeface="Calibri"/>
              </a:rPr>
              <a:t/>
            </a:r>
          </a:p>
          <a:p xmlns:a="http://schemas.openxmlformats.org/drawingml/2006/main">
            <a:pPr algn="l"/>
            <a:r>
              <a:rPr lang="en-US" sz="1700" b="0">
                <a:solidFill>
                  <a:srgbClr val="FFFFFF"/>
                </a:solidFill>
                <a:latin typeface="Calibri"/>
                <a:ea typeface="Calibri"/>
              </a:rPr>
              <a:t>→ Nghiệm thu đồ án và hoàn thiện tài liệu hướng dẫn kỹ thuật.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OfficeCLI/1.0.135</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2026-08-24T07:49:56Z</dcterms:created>
  <cp:lastModifiedBy>OfficeCLI</cp:lastModifiedBy>
  <dcterms:modified xsi:type="dcterms:W3CDTF">2026-08-24T07:49:56Z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1.0.135</vt:lpwstr>
  </op:property>
  <op:property fmtid="{D5CDD505-2E9C-101B-9397-08002B2CF9AE}" pid="3" name="OfficeCLI.LastModified">
    <vt:lpwstr xmlns:vt="http://schemas.openxmlformats.org/officeDocument/2006/docPropsVTypes">2026-08-24T07:49:58Z</vt:lpwstr>
  </op:property>
</op:Properties>
</file>